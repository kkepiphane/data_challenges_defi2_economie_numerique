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Individus utilisant Internet (%)</c:v>
                </c:pt>
              </c:strCache>
            </c:strRef>
          </c:tx>
          <c:spPr>
            <a:ln w="28575" cap="rnd" cmpd="sng" algn="ctr">
              <a:solidFill>
                <a:srgbClr val="1F7A4D"/>
              </a:solidFill>
              <a:prstDash val="solid"/>
              <a:round/>
            </a:ln>
          </c:spPr>
          <c:marker>
            <c:symbol val="circle"/>
            <c:size val="6"/>
            <c:spPr>
              <a:solidFill>
                <a:srgbClr val="1F7A4D"/>
              </a:solidFill>
              <a:ln w="9525" cap="flat" cmpd="sng" algn="ctr">
                <a:solidFill>
                  <a:srgbClr val="FFFFF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1100" b="1">
                        <a:solidFill>
                          <a:srgbClr val="10231B"/>
                        </a:solidFill>
                        <a:latin typeface="Calibri" panose="020F0502020204030204"/>
                      </a:rPr>
                      <a:t>37,6 %</a:t>
                    </a:r>
                    <a:endParaRPr sz="1100" b="1">
                      <a:solidFill>
                        <a:srgbClr val="10231B"/>
                      </a:solidFill>
                      <a:latin typeface="Calibri" panose="020F0502020204030204"/>
                    </a:endParaRP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fr-FR" sz="1000" b="0" i="0" u="none" strike="noStrike" kern="1200" baseline="0">
                    <a:solidFill>
                      <a:srgbClr val="4A5A52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Sheet1!$A$2:$A$19</c:f>
              <c:strCache>
                <c:ptCount val="18"/>
                <c:pt idx="0" c:formatCode="s\t\a\nd\a\rd">
                  <c:v>2005</c:v>
                </c:pt>
                <c:pt idx="1" c:formatCode="s\t\a\nd\a\rd">
                  <c:v>2006</c:v>
                </c:pt>
                <c:pt idx="2" c:formatCode="s\t\a\nd\a\rd">
                  <c:v>2007</c:v>
                </c:pt>
                <c:pt idx="3" c:formatCode="s\t\a\nd\a\rd">
                  <c:v>2008</c:v>
                </c:pt>
                <c:pt idx="4" c:formatCode="s\t\a\nd\a\rd">
                  <c:v>2009</c:v>
                </c:pt>
                <c:pt idx="5" c:formatCode="s\t\a\nd\a\rd">
                  <c:v>2010</c:v>
                </c:pt>
                <c:pt idx="6" c:formatCode="s\t\a\nd\a\rd">
                  <c:v>2011</c:v>
                </c:pt>
                <c:pt idx="7" c:formatCode="s\t\a\nd\a\rd">
                  <c:v>2012</c:v>
                </c:pt>
                <c:pt idx="8" c:formatCode="s\t\a\nd\a\rd">
                  <c:v>2013</c:v>
                </c:pt>
                <c:pt idx="9" c:formatCode="s\t\a\nd\a\rd">
                  <c:v>2014</c:v>
                </c:pt>
                <c:pt idx="10" c:formatCode="s\t\a\nd\a\rd">
                  <c:v>2015</c:v>
                </c:pt>
                <c:pt idx="11" c:formatCode="s\t\a\nd\a\rd">
                  <c:v>2016</c:v>
                </c:pt>
                <c:pt idx="12" c:formatCode="s\t\a\nd\a\rd">
                  <c:v>2017</c:v>
                </c:pt>
                <c:pt idx="13" c:formatCode="s\t\a\nd\a\rd">
                  <c:v>2018</c:v>
                </c:pt>
                <c:pt idx="14" c:formatCode="s\t\a\nd\a\rd">
                  <c:v>2019</c:v>
                </c:pt>
                <c:pt idx="15" c:formatCode="s\t\a\nd\a\rd">
                  <c:v>2020</c:v>
                </c:pt>
                <c:pt idx="16" c:formatCode="s\t\a\nd\a\rd">
                  <c:v>2021</c:v>
                </c:pt>
                <c:pt idx="17" c:formatCode="s\t\a\nd\a\rd">
                  <c:v>2022</c:v>
                </c:pt>
              </c:strCache>
            </c:strRef>
          </c:cat>
          <c:val>
            <c:numRef>
              <c:f>Sheet1!$B$2:$B$19</c:f>
              <c:numCache>
                <c:formatCode>s\t\a\nd\a\rd</c:formatCode>
                <c:ptCount val="18"/>
                <c:pt idx="0">
                  <c:v>1.8</c:v>
                </c:pt>
                <c:pt idx="1">
                  <c:v>2</c:v>
                </c:pt>
                <c:pt idx="2">
                  <c:v>2.2</c:v>
                </c:pt>
                <c:pt idx="3">
                  <c:v>2.4</c:v>
                </c:pt>
                <c:pt idx="4">
                  <c:v>2.6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4.5</c:v>
                </c:pt>
                <c:pt idx="9">
                  <c:v>5.7</c:v>
                </c:pt>
                <c:pt idx="10">
                  <c:v>7.12</c:v>
                </c:pt>
                <c:pt idx="11">
                  <c:v>11.31</c:v>
                </c:pt>
                <c:pt idx="12">
                  <c:v>12.36</c:v>
                </c:pt>
                <c:pt idx="13">
                  <c:v>15.5</c:v>
                </c:pt>
                <c:pt idx="14">
                  <c:v>20.73</c:v>
                </c:pt>
                <c:pt idx="15">
                  <c:v>29.02</c:v>
                </c:pt>
                <c:pt idx="16">
                  <c:v>32.51</c:v>
                </c:pt>
                <c:pt idx="17">
                  <c:v>37.62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 cap="flat" cmpd="sng" algn="ctr">
            <a:solidFill>
              <a:srgbClr val="CFCBBE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rgbClr val="ECEAE2"/>
              </a:solidFill>
              <a:prstDash val="solid"/>
              <a:round/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 w="9525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d14d18aa-ff78-4e39-be33-97407119bdf9}"/>
      </c:ext>
    </c:extLst>
  </c:chart>
  <c:txPr>
    <a:bodyPr/>
    <a:lstStyle/>
    <a:p>
      <a:pPr>
        <a:defRPr lang="fr-FR" sz="1000">
          <a:solidFill>
            <a:srgbClr val="4A5A52"/>
          </a:solidFill>
          <a:latin typeface="Calibri" panose="020F0502020204030204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Togocom</c:v>
                </c:pt>
              </c:strCache>
            </c:strRef>
          </c:tx>
          <c:spPr>
            <a:ln w="28575" cap="rnd" cmpd="sng" algn="ctr">
              <a:solidFill>
                <a:srgbClr val="1F7A4D"/>
              </a:solidFill>
              <a:prstDash val="solid"/>
              <a:round/>
            </a:ln>
          </c:spPr>
          <c:marker>
            <c:symbol val="circle"/>
            <c:size val="6"/>
            <c:spPr>
              <a:solidFill>
                <a:srgbClr val="1F7A4D"/>
              </a:solidFill>
              <a:ln w="9525" cap="flat" cmpd="sng" algn="ctr">
                <a:solidFill>
                  <a:srgbClr val="FFFFFF"/>
                </a:solidFill>
                <a:prstDash val="solid"/>
                <a:round/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 c:formatCode="s\t\a\nd\a\rd">
                  <c:v>2013</c:v>
                </c:pt>
                <c:pt idx="1" c:formatCode="s\t\a\nd\a\rd">
                  <c:v>2014</c:v>
                </c:pt>
                <c:pt idx="2" c:formatCode="s\t\a\nd\a\rd">
                  <c:v>2015</c:v>
                </c:pt>
                <c:pt idx="3" c:formatCode="s\t\a\nd\a\rd">
                  <c:v>2016</c:v>
                </c:pt>
                <c:pt idx="4" c:formatCode="s\t\a\nd\a\rd">
                  <c:v>2017</c:v>
                </c:pt>
                <c:pt idx="5" c:formatCode="s\t\a\nd\a\rd">
                  <c:v>2018</c:v>
                </c:pt>
                <c:pt idx="6" c:formatCode="s\t\a\nd\a\rd">
                  <c:v>2019</c:v>
                </c:pt>
              </c:strCache>
            </c:strRef>
          </c:cat>
          <c:val>
            <c:numRef>
              <c:f>Sheet1!$B$2:$B$8</c:f>
              <c:numCache>
                <c:formatCode>s\t\a\nd\a\rd</c:formatCode>
                <c:ptCount val="7"/>
                <c:pt idx="0">
                  <c:v>54.57</c:v>
                </c:pt>
                <c:pt idx="1">
                  <c:v>54.48</c:v>
                </c:pt>
                <c:pt idx="2">
                  <c:v>54.03</c:v>
                </c:pt>
                <c:pt idx="3">
                  <c:v>53.98</c:v>
                </c:pt>
                <c:pt idx="4">
                  <c:v>51.52</c:v>
                </c:pt>
                <c:pt idx="5">
                  <c:v>44.59</c:v>
                </c:pt>
                <c:pt idx="6">
                  <c:v>51.44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Moov</c:v>
                </c:pt>
              </c:strCache>
            </c:strRef>
          </c:tx>
          <c:spPr>
            <a:ln w="28575" cap="rnd" cmpd="sng" algn="ctr">
              <a:solidFill>
                <a:srgbClr val="3B5BA5"/>
              </a:solidFill>
              <a:prstDash val="solid"/>
              <a:round/>
            </a:ln>
          </c:spPr>
          <c:marker>
            <c:symbol val="circle"/>
            <c:size val="6"/>
            <c:spPr>
              <a:solidFill>
                <a:srgbClr val="3B5BA5"/>
              </a:solidFill>
              <a:ln w="9525" cap="flat" cmpd="sng" algn="ctr">
                <a:solidFill>
                  <a:srgbClr val="FFFFFF"/>
                </a:solidFill>
                <a:prstDash val="solid"/>
                <a:round/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 c:formatCode="s\t\a\nd\a\rd">
                  <c:v>2013</c:v>
                </c:pt>
                <c:pt idx="1" c:formatCode="s\t\a\nd\a\rd">
                  <c:v>2014</c:v>
                </c:pt>
                <c:pt idx="2" c:formatCode="s\t\a\nd\a\rd">
                  <c:v>2015</c:v>
                </c:pt>
                <c:pt idx="3" c:formatCode="s\t\a\nd\a\rd">
                  <c:v>2016</c:v>
                </c:pt>
                <c:pt idx="4" c:formatCode="s\t\a\nd\a\rd">
                  <c:v>2017</c:v>
                </c:pt>
                <c:pt idx="5" c:formatCode="s\t\a\nd\a\rd">
                  <c:v>2018</c:v>
                </c:pt>
                <c:pt idx="6" c:formatCode="s\t\a\nd\a\rd">
                  <c:v>2019</c:v>
                </c:pt>
              </c:strCache>
            </c:strRef>
          </c:cat>
          <c:val>
            <c:numRef>
              <c:f>Sheet1!$C$2:$C$8</c:f>
              <c:numCache>
                <c:formatCode>s\t\a\nd\a\rd</c:formatCode>
                <c:ptCount val="7"/>
                <c:pt idx="0">
                  <c:v>45.43</c:v>
                </c:pt>
                <c:pt idx="1">
                  <c:v>45.52</c:v>
                </c:pt>
                <c:pt idx="2">
                  <c:v>45.97</c:v>
                </c:pt>
                <c:pt idx="3">
                  <c:v>46.02</c:v>
                </c:pt>
                <c:pt idx="4">
                  <c:v>48.48</c:v>
                </c:pt>
                <c:pt idx="5">
                  <c:v>55.41</c:v>
                </c:pt>
                <c:pt idx="6">
                  <c:v>48.56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 cap="flat" cmpd="sng" algn="ctr">
            <a:solidFill>
              <a:srgbClr val="CFCBBE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"/>
          <c:min val="40"/>
        </c:scaling>
        <c:delete val="0"/>
        <c:axPos val="l"/>
        <c:majorGridlines>
          <c:spPr>
            <a:ln w="9525" cap="flat" cmpd="sng" algn="ctr">
              <a:solidFill>
                <a:srgbClr val="ECEAE2"/>
              </a:solidFill>
              <a:prstDash val="solid"/>
              <a:round/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 w="9525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fr-FR" sz="1000" b="0" i="0" u="none" strike="noStrike" kern="1200" baseline="0">
              <a:solidFill>
                <a:srgbClr val="4A5A52"/>
              </a:solidFill>
              <a:latin typeface="Calibri" panose="020F0502020204030204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6fe8f1a3-fa78-4d5d-9fd8-da17c648bea7}"/>
      </c:ext>
    </c:extLst>
  </c:chart>
  <c:txPr>
    <a:bodyPr/>
    <a:lstStyle/>
    <a:p>
      <a:pPr>
        <a:defRPr lang="fr-FR" sz="1000">
          <a:solidFill>
            <a:srgbClr val="4A5A52"/>
          </a:solidFill>
          <a:latin typeface="Calibri" panose="020F0502020204030204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2G (GPRS/EDGE)</c:v>
                </c:pt>
              </c:strCache>
            </c:strRef>
          </c:tx>
          <c:spPr>
            <a:solidFill>
              <a:srgbClr val="74B38F"/>
            </a:solidFill>
            <a:ln w="12700">
              <a:solidFill>
                <a:srgbClr val="FFFFFF"/>
              </a:solidFill>
            </a:ln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 c:formatCode="s\t\a\nd\a\rd">
                  <c:v>Togocom 2013</c:v>
                </c:pt>
                <c:pt idx="1" c:formatCode="s\t\a\nd\a\rd">
                  <c:v>Togocom 2019</c:v>
                </c:pt>
                <c:pt idx="2" c:formatCode="s\t\a\nd\a\rd">
                  <c:v>Moov 2013</c:v>
                </c:pt>
                <c:pt idx="3" c:formatCode="s\t\a\nd\a\rd">
                  <c:v>Moov 2019</c:v>
                </c:pt>
              </c:strCache>
            </c:strRef>
          </c:cat>
          <c:val>
            <c:numRef>
              <c:f>Sheet1!$B$2:$B$5</c:f>
              <c:numCache>
                <c:formatCode>s\t\a\nd\a\rd</c:formatCode>
                <c:ptCount val="4"/>
                <c:pt idx="0">
                  <c:v>39594</c:v>
                </c:pt>
                <c:pt idx="1">
                  <c:v>1134</c:v>
                </c:pt>
                <c:pt idx="2">
                  <c:v>109824</c:v>
                </c:pt>
                <c:pt idx="3">
                  <c:v>1328472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3G</c:v>
                </c:pt>
              </c:strCache>
            </c:strRef>
          </c:tx>
          <c:spPr>
            <a:solidFill>
              <a:srgbClr val="2F8A5B"/>
            </a:solidFill>
            <a:ln w="12700">
              <a:solidFill>
                <a:srgbClr val="FFFFFF"/>
              </a:solidFill>
            </a:ln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 c:formatCode="s\t\a\nd\a\rd">
                  <c:v>Togocom 2013</c:v>
                </c:pt>
                <c:pt idx="1" c:formatCode="s\t\a\nd\a\rd">
                  <c:v>Togocom 2019</c:v>
                </c:pt>
                <c:pt idx="2" c:formatCode="s\t\a\nd\a\rd">
                  <c:v>Moov 2013</c:v>
                </c:pt>
                <c:pt idx="3" c:formatCode="s\t\a\nd\a\rd">
                  <c:v>Moov 2019</c:v>
                </c:pt>
              </c:strCache>
            </c:strRef>
          </c:cat>
          <c:val>
            <c:numRef>
              <c:f>Sheet1!$C$2:$C$5</c:f>
              <c:numCache>
                <c:formatCode>s\t\a\nd\a\rd</c:formatCode>
                <c:ptCount val="4"/>
                <c:pt idx="0">
                  <c:v>130019</c:v>
                </c:pt>
                <c:pt idx="1">
                  <c:v>1242250</c:v>
                </c:pt>
                <c:pt idx="2">
                  <c:v>0</c:v>
                </c:pt>
                <c:pt idx="3">
                  <c:v>633580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4G</c:v>
                </c:pt>
              </c:strCache>
            </c:strRef>
          </c:tx>
          <c:spPr>
            <a:solidFill>
              <a:srgbClr val="0F4A2E"/>
            </a:solidFill>
            <a:ln w="12700">
              <a:solidFill>
                <a:srgbClr val="FFFFFF"/>
              </a:solidFill>
            </a:ln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 c:formatCode="s\t\a\nd\a\rd">
                  <c:v>Togocom 2013</c:v>
                </c:pt>
                <c:pt idx="1" c:formatCode="s\t\a\nd\a\rd">
                  <c:v>Togocom 2019</c:v>
                </c:pt>
                <c:pt idx="2" c:formatCode="s\t\a\nd\a\rd">
                  <c:v>Moov 2013</c:v>
                </c:pt>
                <c:pt idx="3" c:formatCode="s\t\a\nd\a\rd">
                  <c:v>Moov 2019</c:v>
                </c:pt>
              </c:strCache>
            </c:strRef>
          </c:cat>
          <c:val>
            <c:numRef>
              <c:f>Sheet1!$D$2:$D$5</c:f>
              <c:numCache>
                <c:formatCode>s\t\a\nd\a\rd</c:formatCode>
                <c:ptCount val="4"/>
                <c:pt idx="0">
                  <c:v>0</c:v>
                </c:pt>
                <c:pt idx="1">
                  <c:v>174474</c:v>
                </c:pt>
                <c:pt idx="2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 cap="flat" cmpd="sng" algn="ctr">
            <a:solidFill>
              <a:srgbClr val="CFCBBE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rgbClr val="ECEAE2"/>
              </a:solidFill>
              <a:prstDash val="solid"/>
              <a:round/>
            </a:ln>
          </c:spPr>
        </c:majorGridlines>
        <c:numFmt formatCode="0.0,,&quot; M&quot;" sourceLinked="0"/>
        <c:majorTickMark val="out"/>
        <c:minorTickMark val="none"/>
        <c:tickLblPos val="nextTo"/>
        <c:spPr>
          <a:ln w="9525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fr-FR" sz="1000" b="0" i="0" u="none" strike="noStrike" kern="1200" baseline="0">
              <a:solidFill>
                <a:srgbClr val="4A5A52"/>
              </a:solidFill>
              <a:latin typeface="Calibri" panose="020F0502020204030204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9ea7b23-bb03-417e-8ec2-cc994df70427}"/>
      </c:ext>
    </c:extLst>
  </c:chart>
  <c:txPr>
    <a:bodyPr/>
    <a:lstStyle/>
    <a:p>
      <a:pPr>
        <a:defRPr lang="fr-FR" sz="1000">
          <a:solidFill>
            <a:srgbClr val="4A5A52"/>
          </a:solidFill>
          <a:latin typeface="Calibri" panose="020F0502020204030204"/>
        </a:defRPr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Habitants par établissement</c:v>
                </c:pt>
              </c:strCache>
            </c:strRef>
          </c:tx>
          <c:spPr>
            <a:solidFill>
              <a:srgbClr val="C05A2B"/>
            </a:solidFill>
            <a:ln w="12700">
              <a:solidFill>
                <a:srgbClr val="FFFFFF"/>
              </a:solidFill>
            </a:ln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100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18 746</a:t>
                    </a:r>
                    <a:endParaRPr sz="100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100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12 967</a:t>
                    </a:r>
                    <a:endParaRPr sz="100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100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12 831</a:t>
                    </a:r>
                    <a:endParaRPr sz="100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100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16 197</a:t>
                    </a:r>
                    <a:endParaRPr sz="100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100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9 930</a:t>
                    </a:r>
                    <a:endParaRPr sz="100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fr-FR" sz="1000" b="0" i="0" u="none" strike="noStrike" kern="1200" baseline="0">
                    <a:solidFill>
                      <a:srgbClr val="4A5A52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 c:formatCode="s\t\a\nd\a\rd">
                  <c:v>Savanes</c:v>
                </c:pt>
                <c:pt idx="1" c:formatCode="s\t\a\nd\a\rd">
                  <c:v>Kara</c:v>
                </c:pt>
                <c:pt idx="2" c:formatCode="s\t\a\nd\a\rd">
                  <c:v>Centrale</c:v>
                </c:pt>
                <c:pt idx="3" c:formatCode="s\t\a\nd\a\rd">
                  <c:v>Plateaux</c:v>
                </c:pt>
                <c:pt idx="4" c:formatCode="s\t\a\nd\a\rd">
                  <c:v>Maritime</c:v>
                </c:pt>
              </c:strCache>
            </c:strRef>
          </c:cat>
          <c:val>
            <c:numRef>
              <c:f>Sheet1!$B$2:$B$6</c:f>
              <c:numCache>
                <c:formatCode>s\t\a\nd\a\rd</c:formatCode>
                <c:ptCount val="5"/>
                <c:pt idx="0">
                  <c:v>18746</c:v>
                </c:pt>
                <c:pt idx="1">
                  <c:v>12967</c:v>
                </c:pt>
                <c:pt idx="2">
                  <c:v>12831</c:v>
                </c:pt>
                <c:pt idx="3">
                  <c:v>16197</c:v>
                </c:pt>
                <c:pt idx="4">
                  <c:v>9930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 w="9525" cap="flat" cmpd="sng" algn="ctr">
            <a:solidFill>
              <a:srgbClr val="CFCBBE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2870.12"/>
          <c:min val="0"/>
        </c:scaling>
        <c:delete val="0"/>
        <c:axPos val="t"/>
        <c:numFmt formatCode="g&quot;é&quot;\n&quot;é&quot;\r\a\l" sourceLinked="1"/>
        <c:majorTickMark val="none"/>
        <c:minorTickMark val="none"/>
        <c:tickLblPos val="none"/>
        <c:spPr>
          <a:ln w="9525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c0a5a107-e79d-4d73-bcd3-8a30d66a7c29}"/>
      </c:ext>
    </c:extLst>
  </c:chart>
  <c:txPr>
    <a:bodyPr/>
    <a:lstStyle/>
    <a:p>
      <a:pPr>
        <a:defRPr lang="fr-FR" sz="1000">
          <a:solidFill>
            <a:srgbClr val="4A5A52"/>
          </a:solidFill>
          <a:latin typeface="Calibri" panose="020F0502020204030204"/>
        </a:defRPr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 des agents (%)</c:v>
                </c:pt>
              </c:strCache>
            </c:strRef>
          </c:tx>
          <c:spPr>
            <a:solidFill>
              <a:srgbClr val="C05A2B"/>
            </a:solidFill>
            <a:ln w="12700">
              <a:solidFill>
                <a:srgbClr val="FFFFFF"/>
              </a:solidFill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E29A72"/>
              </a:solidFill>
            </c:spPr>
          </c:dPt>
          <c:dPt>
            <c:idx val="1"/>
            <c:invertIfNegative val="0"/>
            <c:bubble3D val="0"/>
            <c:spPr>
              <a:solidFill>
                <a:srgbClr val="D3784C"/>
              </a:solidFill>
            </c:spPr>
          </c:dPt>
          <c:dPt>
            <c:idx val="2"/>
            <c:invertIfNegative val="0"/>
            <c:bubble3D val="0"/>
            <c:spPr>
              <a:solidFill>
                <a:srgbClr val="C05A2B"/>
              </a:solidFill>
            </c:spPr>
          </c:dPt>
          <c:dPt>
            <c:idx val="3"/>
            <c:invertIfNegative val="0"/>
            <c:bubble3D val="0"/>
            <c:spPr>
              <a:solidFill>
                <a:srgbClr val="98421D"/>
              </a:solidFill>
            </c:spPr>
          </c:dPt>
          <c:dPt>
            <c:idx val="4"/>
            <c:invertIfNegative val="0"/>
            <c:bubble3D val="0"/>
            <c:spPr>
              <a:solidFill>
                <a:srgbClr val="6E2E12"/>
              </a:solidFill>
            </c:spPr>
          </c:dPt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100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74,0 %</a:t>
                    </a:r>
                    <a:endParaRPr sz="100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100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10,8 %</a:t>
                    </a:r>
                    <a:endParaRPr sz="100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100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7,5 %</a:t>
                    </a:r>
                    <a:endParaRPr sz="100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100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6,4 %</a:t>
                    </a:r>
                    <a:endParaRPr sz="100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100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1,3 %</a:t>
                    </a:r>
                    <a:endParaRPr sz="100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fr-FR" sz="1000" b="0" i="0" u="none" strike="noStrike" kern="1200" baseline="0">
                    <a:solidFill>
                      <a:srgbClr val="4A5A52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 c:formatCode="s\t\a\nd\a\rd">
                  <c:v>&lt; 2 km</c:v>
                </c:pt>
                <c:pt idx="1" c:formatCode="s\t\a\nd\a\rd">
                  <c:v>2–5 km</c:v>
                </c:pt>
                <c:pt idx="2" c:formatCode="s\t\a\nd\a\rd">
                  <c:v>5–10 km</c:v>
                </c:pt>
                <c:pt idx="3" c:formatCode="s\t\a\nd\a\rd">
                  <c:v>10–20 km</c:v>
                </c:pt>
                <c:pt idx="4" c:formatCode="s\t\a\nd\a\rd">
                  <c:v>≥ 20 km</c:v>
                </c:pt>
              </c:strCache>
            </c:strRef>
          </c:cat>
          <c:val>
            <c:numRef>
              <c:f>Sheet1!$B$2:$B$6</c:f>
              <c:numCache>
                <c:formatCode>s\t\a\nd\a\rd</c:formatCode>
                <c:ptCount val="5"/>
                <c:pt idx="0">
                  <c:v>74</c:v>
                </c:pt>
                <c:pt idx="1">
                  <c:v>10.8</c:v>
                </c:pt>
                <c:pt idx="2">
                  <c:v>7.5</c:v>
                </c:pt>
                <c:pt idx="3">
                  <c:v>6.4</c:v>
                </c:pt>
                <c:pt idx="4">
                  <c:v>1.3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 cap="flat" cmpd="sng" algn="ctr">
            <a:solidFill>
              <a:srgbClr val="CFCBBE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0.28"/>
          <c:min val="0"/>
        </c:scaling>
        <c:delete val="0"/>
        <c:axPos val="l"/>
        <c:numFmt formatCode="g&quot;é&quot;\n&quot;é&quot;\r\a\l" sourceLinked="1"/>
        <c:majorTickMark val="none"/>
        <c:minorTickMark val="none"/>
        <c:tickLblPos val="none"/>
        <c:spPr>
          <a:ln w="9525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28c17a49-b314-4575-bb45-26fe59158c6b}"/>
      </c:ext>
    </c:extLst>
  </c:chart>
  <c:txPr>
    <a:bodyPr/>
    <a:lstStyle/>
    <a:p>
      <a:pPr>
        <a:defRPr lang="fr-FR" sz="1000">
          <a:solidFill>
            <a:srgbClr val="4A5A52"/>
          </a:solidFill>
          <a:latin typeface="Calibri" panose="020F0502020204030204"/>
        </a:defRPr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Population 2022</c:v>
                </c:pt>
              </c:strCache>
            </c:strRef>
          </c:tx>
          <c:spPr>
            <a:solidFill>
              <a:srgbClr val="D03B3B"/>
            </a:solidFill>
            <a:ln w="12700">
              <a:solidFill>
                <a:srgbClr val="FFFFFF"/>
              </a:solidFill>
            </a:ln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95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76 652</a:t>
                    </a:r>
                    <a:endParaRPr sz="95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95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66 577</a:t>
                    </a:r>
                    <a:endParaRPr sz="95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95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58 695</a:t>
                    </a:r>
                    <a:endParaRPr sz="95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95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53 305</a:t>
                    </a:r>
                    <a:endParaRPr sz="95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95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50 179</a:t>
                    </a:r>
                    <a:endParaRPr sz="95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95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47 903</a:t>
                    </a:r>
                    <a:endParaRPr sz="95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95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45 218</a:t>
                    </a:r>
                    <a:endParaRPr sz="95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95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40 462</a:t>
                    </a:r>
                    <a:endParaRPr sz="95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8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95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32 716</a:t>
                    </a:r>
                    <a:endParaRPr sz="95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9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>
                      <a:defRPr lang="fr-FR" sz="1000" b="0" i="0" u="none" strike="noStrike" kern="1200" baseline="0">
                        <a:solidFill>
                          <a:srgbClr val="4A5A52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sz="950" b="1">
                        <a:solidFill>
                          <a:srgbClr val="4A5A52"/>
                        </a:solidFill>
                        <a:latin typeface="Calibri" panose="020F0502020204030204"/>
                      </a:rPr>
                      <a:t>30 983</a:t>
                    </a:r>
                    <a:endParaRPr sz="950" b="1">
                      <a:solidFill>
                        <a:srgbClr val="4A5A52"/>
                      </a:solidFill>
                      <a:latin typeface="Calibri" panose="020F0502020204030204"/>
                    </a:endParaRP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fr-FR" sz="1000" b="0" i="0" u="none" strike="noStrike" kern="1200" baseline="0">
                    <a:solidFill>
                      <a:srgbClr val="4A5A52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 c:formatCode="s\t\a\nd\a\rd">
                  <c:v>Dankpen 3</c:v>
                </c:pt>
                <c:pt idx="1" c:formatCode="s\t\a\nd\a\rd">
                  <c:v>Tône 4</c:v>
                </c:pt>
                <c:pt idx="2" c:formatCode="s\t\a\nd\a\rd">
                  <c:v>Haho 3</c:v>
                </c:pt>
                <c:pt idx="3" c:formatCode="s\t\a\nd\a\rd">
                  <c:v>Kéran 2</c:v>
                </c:pt>
                <c:pt idx="4" c:formatCode="s\t\a\nd\a\rd">
                  <c:v>Tône 2</c:v>
                </c:pt>
                <c:pt idx="5" c:formatCode="s\t\a\nd\a\rd">
                  <c:v>Kpendjal 1</c:v>
                </c:pt>
                <c:pt idx="6" c:formatCode="s\t\a\nd\a\rd">
                  <c:v>Blitta 3</c:v>
                </c:pt>
                <c:pt idx="7" c:formatCode="s\t\a\nd\a\rd">
                  <c:v>Kpendjal 2</c:v>
                </c:pt>
                <c:pt idx="8" c:formatCode="s\t\a\nd\a\rd">
                  <c:v>Dankpen 2</c:v>
                </c:pt>
                <c:pt idx="9" c:formatCode="s\t\a\nd\a\rd">
                  <c:v>Kéran 3</c:v>
                </c:pt>
              </c:strCache>
            </c:strRef>
          </c:cat>
          <c:val>
            <c:numRef>
              <c:f>Sheet1!$B$2:$B$11</c:f>
              <c:numCache>
                <c:formatCode>s\t\a\nd\a\rd</c:formatCode>
                <c:ptCount val="10"/>
                <c:pt idx="0">
                  <c:v>76652</c:v>
                </c:pt>
                <c:pt idx="1">
                  <c:v>66577</c:v>
                </c:pt>
                <c:pt idx="2">
                  <c:v>58695</c:v>
                </c:pt>
                <c:pt idx="3">
                  <c:v>53305</c:v>
                </c:pt>
                <c:pt idx="4">
                  <c:v>50179</c:v>
                </c:pt>
                <c:pt idx="5">
                  <c:v>47903</c:v>
                </c:pt>
                <c:pt idx="6">
                  <c:v>45218</c:v>
                </c:pt>
                <c:pt idx="7">
                  <c:v>40462</c:v>
                </c:pt>
                <c:pt idx="8">
                  <c:v>32716</c:v>
                </c:pt>
                <c:pt idx="9">
                  <c:v>30983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 w="9525" cap="flat" cmpd="sng" algn="ctr">
            <a:solidFill>
              <a:srgbClr val="CFCBBE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3515.44"/>
          <c:min val="0"/>
        </c:scaling>
        <c:delete val="0"/>
        <c:axPos val="t"/>
        <c:numFmt formatCode="g&quot;é&quot;\n&quot;é&quot;\r\a\l" sourceLinked="1"/>
        <c:majorTickMark val="none"/>
        <c:minorTickMark val="none"/>
        <c:tickLblPos val="none"/>
        <c:spPr>
          <a:ln w="9525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fr-FR" sz="1000" b="0" i="0" u="none" strike="noStrike" kern="1200" baseline="0">
                <a:solidFill>
                  <a:srgbClr val="7D8A83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322b8739-b00b-4cc5-adfb-87833f8fb8fa}"/>
      </c:ext>
    </c:extLst>
  </c:chart>
  <c:txPr>
    <a:bodyPr/>
    <a:lstStyle/>
    <a:p>
      <a:pPr>
        <a:defRPr lang="fr-FR" sz="1000">
          <a:solidFill>
            <a:srgbClr val="4A5A52"/>
          </a:solidFill>
          <a:latin typeface="Calibri" panose="020F0502020204030204"/>
        </a:defRPr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trois chiffres sont recalculés par src/rapport.py depuis data_processed/ : WDI 2022 ; nombre de lignes du fichier agents ; communes (unités RGPH-5) avec agents &gt; 0 et établissements (banque, micro-finance, mutuelle ; statuts en activité ou non renseigné) =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Habitants par agent = population RGPH-5 2022 ÷ agents ; habitants par établissement = population ÷ établissements de dépôt/crédit ; agents par établissement = agents ÷ établissements.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Dictionnaire de données et journal de qualité générés automatiquement : data_dictionary.md, data_processed/journal_qualite.csv. La période PRISE 2021/22 provient de l'audit du catalogue du géoportail (Défi 1) ; les agents fournis y sont identiques.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Variation = taux(année) − taux(année précédente). Accélération : variation &gt; variation précédente + 0,1 pt. Aucune variable explicative n'est disponible : les phases ne sont pas interprétées causalement.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HHI = somme des carrés des parts de marché ; avec deux opérateurs il ne peut descendre sous 5 000. Taux d'investissement = investissement ÷ CA. Périmètre du CA non précisé dans la source ; ARPU exclu (unité incohérente).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Carte : habitants par établissement de dépôt/crédit par préfecture ; points noirs = établissements (coordonnées GPS). Dénominateur : population RGPH-5 2022 de la même préfecture ; Maritime inclut le Grand Lomé. Catégories et statuts : banques, micro-finance, mutuelles ; en activité ou statut non renseigné.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Une commune « sans établissement » l'est dans les données fournies : l'absence réelle du service n'est pas démontrable. Cantons : comptages sans population (appariement non fiable).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Indicateurs : habitants par agent, habitants par établissement (aucun = rang le plus défavorable), distance médiane agent → établissement, part des agents à plus de 5 km. Rang moyen = moyenne des 4 rangs 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Règles : C1 établissements = 0 et agents &gt; 0 ; C2 habitants/agent &gt; 2 × référence nationale (409) ; C3 distance médiane &gt; 10 km ; C4 établissements &gt; 0 et ≥ 50 % des agents à &gt; 5 km. Les impacts désignent l'indicateur à suivre ; aucun effet n'est chiffré.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Conclusion fondée exclusivement sur les indicateurs calculés ; les limites reprennent l'onglet « Analyses impossibles » du tableau de bord.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1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chart" Target="../charts/chart5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chart" Target="../charts/char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E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315200" cy="1993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E0A100"/>
                </a:solidFill>
                <a:latin typeface="Calibri" panose="020F0502020204030204"/>
              </a:rPr>
              <a:t>DÉFI 2 · ÉCONOMIE NUMÉRIQUE</a:t>
            </a:r>
            <a:endParaRPr sz="1200" b="1" i="0">
              <a:solidFill>
                <a:srgbClr val="E0A100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 panose="020F0502020204030204"/>
              </a:rPr>
              <a:t>Adoption du numérique et inclusion financière par le mobile money au Togo</a:t>
            </a:r>
            <a:endParaRPr sz="4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CFE0D6"/>
                </a:solidFill>
                <a:latin typeface="Calibri" panose="020F0502020204030204"/>
              </a:rPr>
              <a:t>Objectif : mesurer, à partir des seules données disponibles, où le réseau d'agents mobile money supplée l'absence d'offre financière formelle — et où agir en priorité.</a:t>
            </a:r>
            <a:endParaRPr sz="1600" b="0" i="0">
              <a:solidFill>
                <a:srgbClr val="CFE0D6"/>
              </a:solidFill>
              <a:latin typeface="Calibri" panose="020F050202020403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41605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123D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4343400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0A100"/>
                </a:solidFill>
                <a:latin typeface="Calibri" panose="020F0502020204030204"/>
              </a:rPr>
              <a:t>37,6 %</a:t>
            </a:r>
            <a:endParaRPr sz="3000" b="1" i="0">
              <a:solidFill>
                <a:srgbClr val="E0A100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4946904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CFE0D6"/>
                </a:solidFill>
                <a:latin typeface="Calibri" panose="020F0502020204030204"/>
              </a:rPr>
              <a:t>de la population utilise Internet (2022)</a:t>
            </a:r>
            <a:endParaRPr sz="1150" b="0" i="0">
              <a:solidFill>
                <a:srgbClr val="CFE0D6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434840" y="41605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123D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09159" y="4343400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libri" panose="020F0502020204030204"/>
              </a:rPr>
              <a:t>19 788</a:t>
            </a:r>
            <a:endParaRPr sz="3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09159" y="4946904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CFE0D6"/>
                </a:solidFill>
                <a:latin typeface="Calibri" panose="020F0502020204030204"/>
              </a:rPr>
              <a:t>agents mobile money géolocalisés (2021/22)</a:t>
            </a:r>
            <a:endParaRPr sz="1150" b="0" i="0">
              <a:solidFill>
                <a:srgbClr val="CFE0D6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138160" y="41605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123D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2480" y="4343400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A7A0"/>
                </a:solidFill>
                <a:latin typeface="Calibri" panose="020F0502020204030204"/>
              </a:rPr>
              <a:t>22 communes</a:t>
            </a:r>
            <a:endParaRPr sz="3000" b="1" i="0">
              <a:solidFill>
                <a:srgbClr val="F2A7A0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2480" y="4946904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CFE0D6"/>
                </a:solidFill>
                <a:latin typeface="Calibri" panose="020F0502020204030204"/>
              </a:rPr>
              <a:t>sans établissement de dépôt/crédit recensé (759 599 hab.)</a:t>
            </a:r>
            <a:endParaRPr sz="1150" b="0" i="0">
              <a:solidFill>
                <a:srgbClr val="CFE0D6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9FB8AA"/>
                </a:solidFill>
                <a:latin typeface="Calibri" panose="020F0502020204030204"/>
              </a:rPr>
              <a:t>Sources : RGPH-5 2022 (INSEED) · Géoportail PRISE · Banque mondiale (WDI/UIT) · séries sectorielles télécoms 2013–2019. Aucune valeur imputée.</a:t>
            </a:r>
            <a:endParaRPr sz="900" b="0" i="0">
              <a:solidFill>
                <a:srgbClr val="9FB8AA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9FB8AA"/>
                </a:solidFill>
                <a:latin typeface="Calibri" panose="020F0502020204030204"/>
              </a:rPr>
              <a:t>1</a:t>
            </a:r>
            <a:endParaRPr sz="900" b="0" i="0">
              <a:solidFill>
                <a:srgbClr val="9FB8AA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E0A100"/>
                </a:solidFill>
                <a:latin typeface="Calibri" panose="020F0502020204030204"/>
              </a:rPr>
              <a:t>02  ·  </a:t>
            </a:r>
            <a:r>
              <a:rPr sz="1100" b="1" i="0">
                <a:solidFill>
                  <a:srgbClr val="1F7A4D"/>
                </a:solidFill>
                <a:latin typeface="Calibri" panose="020F0502020204030204"/>
              </a:rPr>
              <a:t>PROBLÉMATIQUE ET ENJEUX</a:t>
            </a:r>
            <a:endParaRPr sz="11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0231B"/>
                </a:solidFill>
                <a:latin typeface="Calibri" panose="020F0502020204030204"/>
              </a:rPr>
              <a:t>Un réseau de proximité dense, une offre financière formelle rare</a:t>
            </a:r>
            <a:endParaRPr sz="2800" b="1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5A52"/>
                </a:solidFill>
                <a:latin typeface="Calibri" panose="020F0502020204030204"/>
              </a:rPr>
              <a:t>Le mobile money peut-il compenser l'absence de banques et d'IMF ? Où l'accès reste-t-il fragile ?</a:t>
            </a:r>
            <a:endParaRPr sz="14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3520440" cy="3063240"/>
          </a:xfrm>
          <a:prstGeom prst="roundRect">
            <a:avLst>
              <a:gd name="adj" fmla="val 8000"/>
            </a:avLst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59" y="2377440"/>
            <a:ext cx="457200" cy="457200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 panose="020F0502020204030204"/>
              </a:rPr>
              <a:t>1</a:t>
            </a:r>
            <a:endParaRPr sz="14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17319" y="2432304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 i="0">
                <a:solidFill>
                  <a:srgbClr val="10231B"/>
                </a:solidFill>
                <a:latin typeface="Calibri" panose="020F0502020204030204"/>
              </a:rPr>
              <a:t>Adoption du numérique</a:t>
            </a:r>
            <a:endParaRPr sz="1500" b="1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59" y="306324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 i="0">
                <a:solidFill>
                  <a:srgbClr val="1F7A4D"/>
                </a:solidFill>
                <a:latin typeface="Calibri" panose="020F0502020204030204"/>
              </a:rPr>
              <a:t>37,6 %</a:t>
            </a:r>
            <a:endParaRPr sz="40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59" y="3886200"/>
            <a:ext cx="30175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i="0">
                <a:solidFill>
                  <a:srgbClr val="4A5A52"/>
                </a:solidFill>
                <a:latin typeface="Calibri" panose="020F0502020204030204"/>
              </a:rPr>
              <a:t>des Togolais utilisent Internet en 2022, contre 4,5 % en 2013 ; 99 % des abonnements Internet sont mobiles (2019).</a:t>
            </a:r>
            <a:endParaRPr sz="13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79" y="2148840"/>
            <a:ext cx="3520440" cy="3063240"/>
          </a:xfrm>
          <a:prstGeom prst="roundRect">
            <a:avLst>
              <a:gd name="adj" fmla="val 8000"/>
            </a:avLst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71999" y="2377440"/>
            <a:ext cx="457200" cy="457200"/>
          </a:xfrm>
          <a:prstGeom prst="ellipse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 panose="020F0502020204030204"/>
              </a:rPr>
              <a:t>2</a:t>
            </a:r>
            <a:endParaRPr sz="14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66359" y="2432304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 i="0">
                <a:solidFill>
                  <a:srgbClr val="10231B"/>
                </a:solidFill>
                <a:latin typeface="Calibri" panose="020F0502020204030204"/>
              </a:rPr>
              <a:t>Réseau mobile money</a:t>
            </a:r>
            <a:endParaRPr sz="1500" b="1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1999" y="306324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 i="0">
                <a:solidFill>
                  <a:srgbClr val="8A6400"/>
                </a:solidFill>
                <a:latin typeface="Calibri" panose="020F0502020204030204"/>
              </a:rPr>
              <a:t>19 788</a:t>
            </a:r>
            <a:endParaRPr sz="4000" b="1" i="0">
              <a:solidFill>
                <a:srgbClr val="8A6400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1999" y="3886200"/>
            <a:ext cx="30175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i="0">
                <a:solidFill>
                  <a:srgbClr val="4A5A52"/>
                </a:solidFill>
                <a:latin typeface="Calibri" panose="020F0502020204030204"/>
              </a:rPr>
              <a:t>agents présents dans les 117 communes, soit 409 habitants par agent.</a:t>
            </a:r>
            <a:endParaRPr sz="13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46719" y="2148840"/>
            <a:ext cx="3520440" cy="3063240"/>
          </a:xfrm>
          <a:prstGeom prst="roundRect">
            <a:avLst>
              <a:gd name="adj" fmla="val 8000"/>
            </a:avLst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321040" y="2377440"/>
            <a:ext cx="457200" cy="457200"/>
          </a:xfrm>
          <a:prstGeom prst="ellipse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 panose="020F0502020204030204"/>
              </a:rPr>
              <a:t>3</a:t>
            </a:r>
            <a:endParaRPr sz="14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915399" y="2432304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 i="0">
                <a:solidFill>
                  <a:srgbClr val="10231B"/>
                </a:solidFill>
                <a:latin typeface="Calibri" panose="020F0502020204030204"/>
              </a:rPr>
              <a:t>Offre financière formelle</a:t>
            </a:r>
            <a:endParaRPr sz="1500" b="1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 i="0">
                <a:solidFill>
                  <a:srgbClr val="D03B3B"/>
                </a:solidFill>
                <a:latin typeface="Calibri" panose="020F0502020204030204"/>
              </a:rPr>
              <a:t>656</a:t>
            </a:r>
            <a:endParaRPr sz="4000" b="1" i="0">
              <a:solidFill>
                <a:srgbClr val="D03B3B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21040" y="3886200"/>
            <a:ext cx="30175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 i="0">
                <a:solidFill>
                  <a:srgbClr val="4A5A52"/>
                </a:solidFill>
                <a:latin typeface="Calibri" panose="020F0502020204030204"/>
              </a:rPr>
              <a:t>établissements de dépôt/crédit : 12 341 habitants par établissement, aucun dans 22 communes.</a:t>
            </a:r>
            <a:endParaRPr sz="13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2960" y="5550408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 i="0">
                <a:solidFill>
                  <a:srgbClr val="A12A2A"/>
                </a:solidFill>
                <a:latin typeface="Calibri" panose="020F0502020204030204"/>
              </a:rPr>
              <a:t>Enjeu : </a:t>
            </a:r>
            <a:r>
              <a:rPr sz="1400" b="0" i="0">
                <a:solidFill>
                  <a:srgbClr val="10231B"/>
                </a:solidFill>
                <a:latin typeface="Calibri" panose="020F0502020204030204"/>
              </a:rPr>
              <a:t>30 agents MM pour un établissement financier. Là où aucun établissement n'est recensé, l'agent MM est le seul point d'accès physique à un service financier.</a:t>
            </a:r>
            <a:endParaRPr sz="1400" b="0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Sources : Banque mondiale (WDI/UIT) · Géoportail PRISE 2021/22 (agents) · géoportail, extraction 01/2025 (établissements) · RGPH-5 2022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2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E0A100"/>
                </a:solidFill>
                <a:latin typeface="Calibri" panose="020F0502020204030204"/>
              </a:rPr>
              <a:t>03  ·  </a:t>
            </a:r>
            <a:r>
              <a:rPr sz="1100" b="1" i="0">
                <a:solidFill>
                  <a:srgbClr val="1F7A4D"/>
                </a:solidFill>
                <a:latin typeface="Calibri" panose="020F0502020204030204"/>
              </a:rPr>
              <a:t>DONNÉES, PÉRIMÈTRE ET RÈGLES DE QUALITÉ</a:t>
            </a:r>
            <a:endParaRPr sz="11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0231B"/>
                </a:solidFill>
                <a:latin typeface="Calibri" panose="020F0502020204030204"/>
              </a:rPr>
              <a:t>Huit fichiers sources, zéro valeur imputée</a:t>
            </a:r>
            <a:endParaRPr sz="2800" b="1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5A52"/>
                </a:solidFill>
                <a:latin typeface="Calibri" panose="020F0502020204030204"/>
              </a:rPr>
              <a:t>Seuls les fichiers de data/ et, faute de géométrie, les contours préfectoraux du Défi 1 sont mobilisés.</a:t>
            </a:r>
            <a:endParaRPr sz="1400" b="0" i="0">
              <a:solidFill>
                <a:srgbClr val="4A5A52"/>
              </a:solidFill>
              <a:latin typeface="Calibri" panose="020F0502020204030204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676655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874519"/>
                <a:gridCol w="1463040"/>
                <a:gridCol w="1188720"/>
              </a:tblGrid>
              <a:tr h="44577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Source</a:t>
                      </a:r>
                      <a:endParaRPr sz="10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0B2E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Contenu</a:t>
                      </a:r>
                      <a:endParaRPr sz="10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0B2E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Période</a:t>
                      </a:r>
                      <a:endParaRPr sz="10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0B2E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Maille la plus fine</a:t>
                      </a:r>
                      <a:endParaRPr sz="10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0B2E21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Agents mobile money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19 788 points GPS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2021/22 (PRISE)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Canton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Établissements financiers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738 points GPS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Non datée (extr. 2025)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Canton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Population RGPH-5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759 lignes (5 niveaux)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2022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Canton/quartier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Internet — Banque mondiale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% de la population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1960–2022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National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Abonnés Internet, technologies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25 indicateurs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2013–2019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National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Marché télécom (CA, parts…)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10 indicateurs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2013–2019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National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Schémas des couches (2)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46 et 107 champs décrits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—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—</a:t>
                      </a:r>
                      <a:endParaRPr sz="110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26679" y="2103120"/>
            <a:ext cx="1325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7A4D"/>
                </a:solidFill>
                <a:latin typeface="Calibri" panose="020F0502020204030204"/>
              </a:rPr>
              <a:t>47</a:t>
            </a:r>
            <a:endParaRPr sz="26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98280" y="2148839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4A5A52"/>
                </a:solidFill>
                <a:latin typeface="Calibri" panose="020F0502020204030204"/>
              </a:rPr>
              <a:t>contrôles automatiques rejoués à chaque exécution (45 conformes, 2 écarts documentés)</a:t>
            </a:r>
            <a:endParaRPr sz="115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26679" y="2999232"/>
            <a:ext cx="1325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7A4D"/>
                </a:solidFill>
                <a:latin typeface="Calibri" panose="020F0502020204030204"/>
              </a:rPr>
              <a:t>98,4 %</a:t>
            </a:r>
            <a:endParaRPr sz="26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98280" y="3044951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4A5A52"/>
                </a:solidFill>
                <a:latin typeface="Calibri" panose="020F0502020204030204"/>
              </a:rPr>
              <a:t>des agents (99,2 % des établissements) situés dans la préfecture qu'ils déclarent</a:t>
            </a:r>
            <a:endParaRPr sz="115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26679" y="3895344"/>
            <a:ext cx="1325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7A4D"/>
                </a:solidFill>
                <a:latin typeface="Calibri" panose="020F0502020204030204"/>
              </a:rPr>
              <a:t>116</a:t>
            </a:r>
            <a:endParaRPr sz="26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098280" y="3941063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4A5A52"/>
                </a:solidFill>
                <a:latin typeface="Calibri" panose="020F0502020204030204"/>
              </a:rPr>
              <a:t>unités communales appariées à la population (Danyi 1 + 2 fusionnées dans la source)</a:t>
            </a:r>
            <a:endParaRPr sz="115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26679" y="4791456"/>
            <a:ext cx="1325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7A4D"/>
                </a:solidFill>
                <a:latin typeface="Calibri" panose="020F0502020204030204"/>
              </a:rPr>
              <a:t>7 / 46</a:t>
            </a:r>
            <a:endParaRPr sz="26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98280" y="4837176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4A5A52"/>
                </a:solidFill>
                <a:latin typeface="Calibri" panose="020F0502020204030204"/>
              </a:rPr>
              <a:t>champs du schéma agents présents dans le fichier (13 / 107 pour les établissements)</a:t>
            </a:r>
            <a:endParaRPr sz="115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48640" y="5806440"/>
            <a:ext cx="11064240" cy="475488"/>
          </a:xfrm>
          <a:prstGeom prst="roundRect">
            <a:avLst>
              <a:gd name="adj" fmla="val 8000"/>
            </a:avLst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5852160"/>
            <a:ext cx="106984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4A5A52"/>
                </a:solidFill>
                <a:latin typeface="Calibri" panose="020F0502020204030204"/>
              </a:rPr>
              <a:t>Jointure impossible : </a:t>
            </a:r>
            <a:r>
              <a:rPr sz="1200" b="0" i="0">
                <a:solidFill>
                  <a:srgbClr val="4A5A52"/>
                </a:solidFill>
                <a:latin typeface="Calibri" panose="020F0502020204030204"/>
              </a:rPr>
              <a:t>population × canton (orthographes divergentes, quartiers du Grand Lomé) — ratios calculés aux seuls niveaux région, préfecture, commune. ARPU exclu (unité incohérente).</a:t>
            </a:r>
            <a:endParaRPr sz="12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Sources : data/ (8 fichiers) · contours COD-AB OCHA via Défi 1 · journal : data_processed/controles_qualite.csv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3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E0A100"/>
                </a:solidFill>
                <a:latin typeface="Calibri" panose="020F0502020204030204"/>
              </a:rPr>
              <a:t>04  ·  </a:t>
            </a:r>
            <a:r>
              <a:rPr sz="1100" b="1" i="0">
                <a:solidFill>
                  <a:srgbClr val="1F7A4D"/>
                </a:solidFill>
                <a:latin typeface="Calibri" panose="020F0502020204030204"/>
              </a:rPr>
              <a:t>ÉVOLUTION DE L'USAGE D'INTERNET</a:t>
            </a:r>
            <a:endParaRPr sz="11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0231B"/>
                </a:solidFill>
                <a:latin typeface="Calibri" panose="020F0502020204030204"/>
              </a:rPr>
              <a:t>L'usage d'Internet s'accélère après 2017 : +2,0 pt par an, puis +5,1 pts</a:t>
            </a:r>
            <a:endParaRPr sz="2400" b="1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5A52"/>
                </a:solidFill>
                <a:latin typeface="Calibri" panose="020F0502020204030204"/>
              </a:rPr>
              <a:t>Individus utilisant Internet, % de la population — de 4,5 % (2013) à 37,6 % (2022).</a:t>
            </a:r>
            <a:endParaRPr sz="1400" b="0" i="0">
              <a:solidFill>
                <a:srgbClr val="4A5A52"/>
              </a:solidFill>
              <a:latin typeface="Calibri" panose="020F0502020204030204"/>
            </a:endParaRP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65960"/>
          <a:ext cx="75895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2103120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F7A4D"/>
                </a:solidFill>
                <a:latin typeface="Calibri" panose="020F0502020204030204"/>
              </a:rPr>
              <a:t>×2,6</a:t>
            </a:r>
            <a:endParaRPr sz="34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3920" y="2706624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4A5A52"/>
                </a:solidFill>
                <a:latin typeface="Calibri" panose="020F0502020204030204"/>
              </a:rPr>
              <a:t>gain annuel moyen 2017–2022 rapporté à 2013–2017</a:t>
            </a:r>
            <a:endParaRPr sz="115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03920" y="3429000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8A6400"/>
                </a:solidFill>
                <a:latin typeface="Calibri" panose="020F0502020204030204"/>
              </a:rPr>
              <a:t>+8,3 pts</a:t>
            </a:r>
            <a:endParaRPr sz="3400" b="1" i="0">
              <a:solidFill>
                <a:srgbClr val="8A6400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3920" y="4032504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4A5A52"/>
                </a:solidFill>
                <a:latin typeface="Calibri" panose="020F0502020204030204"/>
              </a:rPr>
              <a:t>plus forte hausse annuelle (2020)</a:t>
            </a:r>
            <a:endParaRPr sz="115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03920" y="4754880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3B5BA5"/>
                </a:solidFill>
                <a:latin typeface="Calibri" panose="020F0502020204030204"/>
              </a:rPr>
              <a:t>44,8 %</a:t>
            </a:r>
            <a:endParaRPr sz="3400" b="1" i="0">
              <a:solidFill>
                <a:srgbClr val="3B5BA5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03920" y="5358384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4A5A52"/>
                </a:solidFill>
                <a:latin typeface="Calibri" panose="020F0502020204030204"/>
              </a:rPr>
              <a:t>pénétration par abonnements en 2019, contre 20,7 % d'individus : multi-abonnements, mesures non substituables</a:t>
            </a:r>
            <a:endParaRPr sz="11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Sources : Banque mondiale, WDI (donnée UIT) ; séries sectorielles 2013–2019. Aucune valeur 2023. Lecture descriptive, sans causalité.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4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E0A100"/>
                </a:solidFill>
                <a:latin typeface="Calibri" panose="020F0502020204030204"/>
              </a:rPr>
              <a:t>05  ·  </a:t>
            </a:r>
            <a:r>
              <a:rPr sz="1100" b="1" i="0">
                <a:solidFill>
                  <a:srgbClr val="1F7A4D"/>
                </a:solidFill>
                <a:latin typeface="Calibri" panose="020F0502020204030204"/>
              </a:rPr>
              <a:t>RÉSULTATS SUR LE MARCHÉ DES TÉLÉCOMMUNICATIONS</a:t>
            </a:r>
            <a:endParaRPr sz="11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0231B"/>
                </a:solidFill>
                <a:latin typeface="Calibri" panose="020F0502020204030204"/>
              </a:rPr>
              <a:t>Un duopole serré ; 61 % de l'Internet mobile en haut débit (2019)</a:t>
            </a:r>
            <a:endParaRPr sz="2400" b="1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5A52"/>
                </a:solidFill>
                <a:latin typeface="Calibri" panose="020F0502020204030204"/>
              </a:rPr>
              <a:t>Parts de marché en abonnés mobiles 2019 : Togocom 51,4 %, Moov 48,6 % — HHI 5 004.</a:t>
            </a:r>
            <a:endParaRPr sz="1400" b="0" i="0">
              <a:solidFill>
                <a:srgbClr val="4A5A52"/>
              </a:solidFill>
              <a:latin typeface="Calibri" panose="020F0502020204030204"/>
            </a:endParaRP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65960"/>
          <a:ext cx="539496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3036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7D8A83"/>
                </a:solidFill>
                <a:latin typeface="Calibri" panose="020F0502020204030204"/>
              </a:rPr>
              <a:t>Parts de marché en abonnés mobiles (%)</a:t>
            </a:r>
            <a:endParaRPr sz="1100" b="0" i="0">
              <a:solidFill>
                <a:srgbClr val="7D8A83"/>
              </a:solidFill>
              <a:latin typeface="Calibri" panose="020F0502020204030204"/>
            </a:endParaRP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965960"/>
          <a:ext cx="54864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523036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7D8A83"/>
                </a:solidFill>
                <a:latin typeface="Calibri" panose="020F0502020204030204"/>
              </a:rPr>
              <a:t>Abonnés Internet mobile par technologie (4G Moov 2019 absente de la source)</a:t>
            </a:r>
            <a:endParaRPr sz="1100" b="0" i="0">
              <a:solidFill>
                <a:srgbClr val="7D8A83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F7A4D"/>
                </a:solidFill>
                <a:latin typeface="Calibri" panose="020F0502020204030204"/>
              </a:rPr>
              <a:t>184,9 Md FCFA</a:t>
            </a:r>
            <a:endParaRPr sz="20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598932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4A5A52"/>
                </a:solidFill>
                <a:latin typeface="Calibri" panose="020F0502020204030204"/>
              </a:rPr>
              <a:t>chiffre d'affaires 2019</a:t>
            </a:r>
            <a:endParaRPr sz="11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7560" y="559612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F7A4D"/>
                </a:solidFill>
                <a:latin typeface="Calibri" panose="020F0502020204030204"/>
              </a:rPr>
              <a:t>25,5 %</a:t>
            </a:r>
            <a:endParaRPr sz="20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337560" y="598932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4A5A52"/>
                </a:solidFill>
                <a:latin typeface="Calibri" panose="020F0502020204030204"/>
              </a:rPr>
              <a:t>taux d'investissement 2019</a:t>
            </a:r>
            <a:endParaRPr sz="11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26479" y="559612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F7A4D"/>
                </a:solidFill>
                <a:latin typeface="Calibri" panose="020F0502020204030204"/>
              </a:rPr>
              <a:t>6 888</a:t>
            </a:r>
            <a:endParaRPr sz="20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26479" y="598932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4A5A52"/>
                </a:solidFill>
                <a:latin typeface="Calibri" panose="020F0502020204030204"/>
              </a:rPr>
              <a:t>abonnés fibre (FTTH) en 2019</a:t>
            </a:r>
            <a:endParaRPr sz="11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915399" y="559612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F7A4D"/>
                </a:solidFill>
                <a:latin typeface="Calibri" panose="020F0502020204030204"/>
              </a:rPr>
              <a:t>3,4 M</a:t>
            </a:r>
            <a:endParaRPr sz="20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915399" y="598932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4A5A52"/>
                </a:solidFill>
                <a:latin typeface="Calibri" panose="020F0502020204030204"/>
              </a:rPr>
              <a:t>abonnements Internet 2019</a:t>
            </a:r>
            <a:endParaRPr sz="11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Sources : séries sectorielles 2013–2019 (observationdata-mesqyx, -cxnvmoc). Togo Cellulaire → Togocom ; Atlantique Telecom → Moov.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5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E0A100"/>
                </a:solidFill>
                <a:latin typeface="Calibri" panose="020F0502020204030204"/>
              </a:rPr>
              <a:t>06  ·  </a:t>
            </a:r>
            <a:r>
              <a:rPr sz="1100" b="1" i="0">
                <a:solidFill>
                  <a:srgbClr val="1F7A4D"/>
                </a:solidFill>
                <a:latin typeface="Calibri" panose="020F0502020204030204"/>
              </a:rPr>
              <a:t>RÉPARTITION TERRITORIALE DES SERVICES FINANCIERS</a:t>
            </a:r>
            <a:endParaRPr sz="11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0231B"/>
                </a:solidFill>
                <a:latin typeface="Calibri" panose="020F0502020204030204"/>
              </a:rPr>
              <a:t>Offre formelle : 1 établissement pour 18 746 habitants en Savanes</a:t>
            </a:r>
            <a:endParaRPr sz="2400" b="1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5A52"/>
                </a:solidFill>
                <a:latin typeface="Calibri" panose="020F0502020204030204"/>
              </a:rPr>
              <a:t>Contre 9 930 en Maritime. La préfecture de Kpendjal (88 365 hab.) n'a aucun établissement de dépôt/crédit recensé.</a:t>
            </a:r>
            <a:endParaRPr sz="1400" b="0" i="0">
              <a:solidFill>
                <a:srgbClr val="4A5A52"/>
              </a:solidFill>
              <a:latin typeface="Calibri" panose="020F0502020204030204"/>
            </a:endParaRPr>
          </a:p>
        </p:txBody>
      </p:sp>
      <p:pic>
        <p:nvPicPr>
          <p:cNvPr id="5" name="Picture 4" descr="carte_hab_par_etabliss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3603413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023360" y="19202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10231B"/>
                </a:solidFill>
                <a:latin typeface="Calibri" panose="020F0502020204030204"/>
              </a:rPr>
              <a:t>Habitants par établissement de dépôt/crédit</a:t>
            </a:r>
            <a:endParaRPr sz="1200" b="1" i="0">
              <a:solidFill>
                <a:srgbClr val="10231B"/>
              </a:solidFill>
              <a:latin typeface="Calibri" panose="020F0502020204030204"/>
            </a:endParaRP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931920" y="2240280"/>
          <a:ext cx="402336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23360" y="5074920"/>
            <a:ext cx="3931920" cy="1143000"/>
          </a:xfrm>
          <a:prstGeom prst="roundRect">
            <a:avLst>
              <a:gd name="adj" fmla="val 8000"/>
            </a:avLst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206240" y="5166360"/>
            <a:ext cx="35661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F7A4D"/>
                </a:solidFill>
                <a:latin typeface="Calibri" panose="020F0502020204030204"/>
              </a:rPr>
              <a:t>54 % </a:t>
            </a:r>
            <a:r>
              <a:rPr sz="1250" b="0" i="0">
                <a:solidFill>
                  <a:srgbClr val="4A5A52"/>
                </a:solidFill>
                <a:latin typeface="Calibri" panose="020F0502020204030204"/>
              </a:rPr>
              <a:t>des établissements sont en région Maritime, </a:t>
            </a:r>
            <a:r>
              <a:rPr sz="1250" b="0" i="0">
                <a:solidFill>
                  <a:srgbClr val="4A5A52"/>
                </a:solidFill>
                <a:latin typeface="Calibri" panose="020F0502020204030204"/>
              </a:rPr>
              <a:t>qui compte 44 % de la population.</a:t>
            </a:r>
            <a:endParaRPr sz="125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03920" y="19659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F7A4D"/>
                </a:solidFill>
                <a:latin typeface="Calibri" panose="020F0502020204030204"/>
              </a:rPr>
              <a:t>404</a:t>
            </a:r>
            <a:endParaRPr sz="28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03920" y="2496312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4A5A52"/>
                </a:solidFill>
                <a:latin typeface="Calibri" panose="020F0502020204030204"/>
              </a:rPr>
              <a:t>points de micro-finance</a:t>
            </a:r>
            <a:endParaRPr sz="12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03920" y="3044952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F7A4D"/>
                </a:solidFill>
                <a:latin typeface="Calibri" panose="020F0502020204030204"/>
              </a:rPr>
              <a:t>243</a:t>
            </a:r>
            <a:endParaRPr sz="28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503920" y="3575304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4A5A52"/>
                </a:solidFill>
                <a:latin typeface="Calibri" panose="020F0502020204030204"/>
              </a:rPr>
              <a:t>agences bancaires</a:t>
            </a:r>
            <a:endParaRPr sz="12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03920" y="4123944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F7A4D"/>
                </a:solidFill>
                <a:latin typeface="Calibri" panose="020F0502020204030204"/>
              </a:rPr>
              <a:t>9</a:t>
            </a:r>
            <a:endParaRPr sz="28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503920" y="465429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4A5A52"/>
                </a:solidFill>
                <a:latin typeface="Calibri" panose="020F0502020204030204"/>
              </a:rPr>
              <a:t>mutuelles</a:t>
            </a:r>
            <a:endParaRPr sz="12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503920" y="5202936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F7A4D"/>
                </a:solidFill>
                <a:latin typeface="Calibri" panose="020F0502020204030204"/>
              </a:rPr>
              <a:t>68 %</a:t>
            </a:r>
            <a:endParaRPr sz="28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503920" y="573328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4A5A52"/>
                </a:solidFill>
                <a:latin typeface="Calibri" panose="020F0502020204030204"/>
              </a:rPr>
              <a:t>des établissements ouverts le samedi</a:t>
            </a:r>
            <a:endParaRPr sz="12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48640" y="641908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Sources : Géoportail PRISE 2021/22 (agents) · géoportail, extraction 01/2025 (établissements) · RGPH-5 2022 · contours COD-AB OCHA (Défi 1).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6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E0A100"/>
                </a:solidFill>
                <a:latin typeface="Calibri" panose="020F0502020204030204"/>
              </a:rPr>
              <a:t>07  ·  </a:t>
            </a:r>
            <a:r>
              <a:rPr sz="1100" b="1" i="0">
                <a:solidFill>
                  <a:srgbClr val="1F7A4D"/>
                </a:solidFill>
                <a:latin typeface="Calibri" panose="020F0502020204030204"/>
              </a:rPr>
              <a:t>RÔLE DU MOBILE MONEY DANS L'ACCÈS TERRITORIAL</a:t>
            </a:r>
            <a:endParaRPr sz="11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0231B"/>
                </a:solidFill>
                <a:latin typeface="Calibri" panose="020F0502020204030204"/>
              </a:rPr>
              <a:t>L'agent MM est le seul point de service financier pour 759 599 habitants</a:t>
            </a:r>
            <a:endParaRPr sz="2400" b="1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5A52"/>
                </a:solidFill>
                <a:latin typeface="Calibri" panose="020F0502020204030204"/>
              </a:rPr>
              <a:t>22 communes (9,4 % de la population) comptent des agents MM mais aucun établissement de dépôt/crédit recensé.</a:t>
            </a:r>
            <a:endParaRPr sz="1400" b="0" i="0">
              <a:solidFill>
                <a:srgbClr val="4A5A52"/>
              </a:solidFill>
              <a:latin typeface="Calibri" panose="020F0502020204030204"/>
            </a:endParaRPr>
          </a:p>
        </p:txBody>
      </p:sp>
      <p:pic>
        <p:nvPicPr>
          <p:cNvPr id="5" name="Picture 4" descr="carte_communes_mm_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3603413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023360" y="192024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10231B"/>
                </a:solidFill>
                <a:latin typeface="Calibri" panose="020F0502020204030204"/>
              </a:rPr>
              <a:t>Distance de chaque agent au premier établissement</a:t>
            </a:r>
            <a:endParaRPr sz="1200" b="1" i="0">
              <a:solidFill>
                <a:srgbClr val="10231B"/>
              </a:solidFill>
              <a:latin typeface="Calibri" panose="020F0502020204030204"/>
            </a:endParaRP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931920" y="2286000"/>
          <a:ext cx="420624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023360" y="521208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7D8A83"/>
                </a:solidFill>
                <a:latin typeface="Calibri" panose="020F0502020204030204"/>
              </a:rPr>
              <a:t>Part des 19 788 agents MM, distance à vol d'oiseau</a:t>
            </a:r>
            <a:endParaRPr sz="1100" b="0" i="0">
              <a:solidFill>
                <a:srgbClr val="7D8A83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3920" y="196596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7A4D"/>
                </a:solidFill>
                <a:latin typeface="Calibri" panose="020F0502020204030204"/>
              </a:rPr>
              <a:t>30</a:t>
            </a:r>
            <a:endParaRPr sz="30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03920" y="2569464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4A5A52"/>
                </a:solidFill>
                <a:latin typeface="Calibri" panose="020F0502020204030204"/>
              </a:rPr>
              <a:t>agents MM pour un établissement de dépôt/crédit</a:t>
            </a:r>
            <a:endParaRPr sz="12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03920" y="333756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7A4D"/>
                </a:solidFill>
                <a:latin typeface="Calibri" panose="020F0502020204030204"/>
              </a:rPr>
              <a:t>15,2 %</a:t>
            </a:r>
            <a:endParaRPr sz="30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03920" y="3941063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4A5A52"/>
                </a:solidFill>
                <a:latin typeface="Calibri" panose="020F0502020204030204"/>
              </a:rPr>
              <a:t>des agents à plus de 5 km du premier établissement</a:t>
            </a:r>
            <a:endParaRPr sz="12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503920" y="470916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D03B3B"/>
                </a:solidFill>
                <a:latin typeface="Calibri" panose="020F0502020204030204"/>
              </a:rPr>
              <a:t>244 / 373</a:t>
            </a:r>
            <a:endParaRPr sz="3000" b="1" i="0">
              <a:solidFill>
                <a:srgbClr val="D03B3B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03920" y="5312664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4A5A52"/>
                </a:solidFill>
                <a:latin typeface="Calibri" panose="020F0502020204030204"/>
              </a:rPr>
              <a:t>cantons avec agents MM et sans établissement</a:t>
            </a:r>
            <a:endParaRPr sz="120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" y="641908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Sources : Géoportail PRISE 2021/22 (agents) · géoportail, extraction 01/2025 (établissements) · RGPH-5 2022. Distances : BallTree haversine, sans réseau routier ni établissements hors frontière.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7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E0A100"/>
                </a:solidFill>
                <a:latin typeface="Calibri" panose="020F0502020204030204"/>
              </a:rPr>
              <a:t>08  ·  </a:t>
            </a:r>
            <a:r>
              <a:rPr sz="1100" b="1" i="0">
                <a:solidFill>
                  <a:srgbClr val="1F7A4D"/>
                </a:solidFill>
                <a:latin typeface="Calibri" panose="020F0502020204030204"/>
              </a:rPr>
              <a:t>TERRITOIRES PRIORITAIRES ET INÉGALITÉS OBSERVÉES</a:t>
            </a:r>
            <a:endParaRPr sz="11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0231B"/>
                </a:solidFill>
                <a:latin typeface="Calibri" panose="020F0502020204030204"/>
              </a:rPr>
              <a:t>Kpendjal, Akébou, Dankpen et Tchamba cumulent les déficits d'accès</a:t>
            </a:r>
            <a:endParaRPr sz="2400" b="1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5A52"/>
                </a:solidFill>
                <a:latin typeface="Calibri" panose="020F0502020204030204"/>
              </a:rPr>
              <a:t>Rang centile de 4 indicateurs par préfecture (1 = moins bien desservie parmi les 39) ; texte = valeur observée.</a:t>
            </a:r>
            <a:endParaRPr sz="1400" b="0" i="0">
              <a:solidFill>
                <a:srgbClr val="4A5A52"/>
              </a:solidFill>
              <a:latin typeface="Calibri" panose="020F0502020204030204"/>
            </a:endParaRPr>
          </a:p>
        </p:txBody>
      </p:sp>
      <p:pic>
        <p:nvPicPr>
          <p:cNvPr id="5" name="Picture 4" descr="matrice_prefe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7040880" cy="44667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09560" y="1965960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10231B"/>
                </a:solidFill>
                <a:latin typeface="Calibri" panose="020F0502020204030204"/>
              </a:rPr>
              <a:t>Communes sans établissement les plus peuplées</a:t>
            </a:r>
            <a:endParaRPr sz="1200" b="1" i="0">
              <a:solidFill>
                <a:srgbClr val="10231B"/>
              </a:solidFill>
              <a:latin typeface="Calibri" panose="020F0502020204030204"/>
            </a:endParaRP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818120" y="2286000"/>
          <a:ext cx="3886200" cy="3611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909560" y="594360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7D8A83"/>
                </a:solidFill>
                <a:latin typeface="Calibri" panose="020F0502020204030204"/>
              </a:rPr>
              <a:t>22 communes au total, 759 599 habitants (RGPH-5 2022).</a:t>
            </a:r>
            <a:endParaRPr sz="1100" b="0" i="0">
              <a:solidFill>
                <a:srgbClr val="7D8A83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Sources : Géoportail PRISE 2021/22 (agents) · géoportail, extraction 01/2025 (établissements) · RGPH-5 2022. Rang moyen : moyenne simple, sans pondération.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8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E0A100"/>
                </a:solidFill>
                <a:latin typeface="Calibri" panose="020F0502020204030204"/>
              </a:rPr>
              <a:t>09  ·  </a:t>
            </a:r>
            <a:r>
              <a:rPr sz="1100" b="1" i="0">
                <a:solidFill>
                  <a:srgbClr val="1F7A4D"/>
                </a:solidFill>
                <a:latin typeface="Calibri" panose="020F0502020204030204"/>
              </a:rPr>
              <a:t>RECOMMANDATIONS STRATÉGIQUES CIBLÉES</a:t>
            </a:r>
            <a:endParaRPr sz="1100" b="1" i="0">
              <a:solidFill>
                <a:srgbClr val="1F7A4D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0231B"/>
                </a:solidFill>
                <a:latin typeface="Calibri" panose="020F0502020204030204"/>
              </a:rPr>
              <a:t>11 communes en priorité 1 : des déficits cumulés, trois leviers</a:t>
            </a:r>
            <a:endParaRPr sz="2800" b="1" i="0">
              <a:solidFill>
                <a:srgbClr val="10231B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5A52"/>
                </a:solidFill>
                <a:latin typeface="Calibri" panose="020F0502020204030204"/>
              </a:rPr>
              <a:t>Priorité = nombre de critères remplis parmi C1 aucun établissement · C2 peu d'agents · C3 distance &gt; 10 km · C4 agents dispersés.</a:t>
            </a:r>
            <a:endParaRPr sz="1400" b="0" i="0">
              <a:solidFill>
                <a:srgbClr val="4A5A52"/>
              </a:solidFill>
              <a:latin typeface="Calibri" panose="020F0502020204030204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11680"/>
          <a:ext cx="110642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331720"/>
                <a:gridCol w="2331720"/>
                <a:gridCol w="2971800"/>
                <a:gridCol w="1783080"/>
              </a:tblGrid>
              <a:tr h="676656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Territoire</a:t>
                      </a:r>
                      <a:endParaRPr sz="10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0B2E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Problème observé</a:t>
                      </a:r>
                      <a:endParaRPr sz="10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0B2E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Indicateurs sources</a:t>
                      </a:r>
                      <a:endParaRPr sz="10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0B2E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Action proposée</a:t>
                      </a:r>
                      <a:endParaRPr sz="10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0B2E2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Impact attendu</a:t>
                      </a:r>
                      <a:endParaRPr sz="1000" b="1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0B2E21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Préfecture de Kpendjal</a:t>
                      </a:r>
                      <a:endParaRPr sz="1050" b="1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Aucun établissement · Peu d'agents MM (&gt; 2× la référence) · 1er établissement &gt; 10 km (médiane)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88 365 hab. · 41 agents MM · 0 établ. · distance médiane 29,2 km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Ouvrir ou conventionner un point de dépôt/crédit (IMF, mutuelle), ou adosser des agents MM à un établissement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Suivi : établissements recensés, habitants par agent, distance médiane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Dankpen 3</a:t>
                      </a:r>
                      <a:endParaRPr sz="1050" b="1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Aucun établissement · Peu d'agents MM (&gt; 2× la référence) · 1er établissement &gt; 10 km (médiane)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76 652 hab. · 37 agents MM · 0 établ. · distance médiane 12,7 km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Ouvrir ou conventionner un point de dépôt/crédit (IMF, mutuelle), ou adosser des agents MM à un établissement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Suivi : établissements recensés, habitants par agent, distance médiane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Kéran 2</a:t>
                      </a:r>
                      <a:endParaRPr sz="1050" b="1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Aucun établissement · Peu d'agents MM (&gt; 2× la référence) · 1er établissement &gt; 10 km (médiane)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53 305 hab. · 38 agents MM · 0 établ. · distance médiane 19,0 km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Ouvrir ou conventionner un point de dépôt/crédit (IMF, mutuelle), ou adosser des agents MM à un établissement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Suivi : établissements recensés, habitants par agent, distance médiane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Est-Mono 2</a:t>
                      </a:r>
                      <a:endParaRPr sz="1050" b="1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Peu d'agents MM (&gt; 2× la référence) · 1er établissement &gt; 10 km (médiane) · Agents dispersés (majorité &gt; 5 km)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101 866 hab. · 99 agents MM · 1 établ. · distance médiane 16,7 km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Densifier le réseau d'agents MM (recrutement ciblé des opérateurs)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31B"/>
                          </a:solidFill>
                          <a:latin typeface="Calibri" panose="020F0502020204030204"/>
                        </a:rPr>
                        <a:t>Suivi : habitants par agent, distance médiane, part d'agents &gt; 5 km</a:t>
                      </a:r>
                      <a:endParaRPr sz="1050" b="0">
                        <a:solidFill>
                          <a:srgbClr val="10231B"/>
                        </a:solidFill>
                        <a:latin typeface="Calibri" panose="020F0502020204030204"/>
                      </a:endParaRPr>
                    </a:p>
                  </a:txBody>
                  <a:tcPr marL="73152" marR="73152" marT="36576" marB="36576" anchor="ctr">
                    <a:solidFill>
                      <a:srgbClr val="F2F5F3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532120"/>
            <a:ext cx="11064240" cy="749808"/>
          </a:xfrm>
          <a:prstGeom prst="roundRect">
            <a:avLst>
              <a:gd name="adj" fmla="val 8000"/>
            </a:avLst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5577840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 i="0">
                <a:solidFill>
                  <a:srgbClr val="1F7A4D"/>
                </a:solidFill>
                <a:latin typeface="Calibri" panose="020F0502020204030204"/>
              </a:rPr>
              <a:t>Leviers transverses : </a:t>
            </a:r>
            <a:r>
              <a:rPr sz="1150" b="0" i="0">
                <a:solidFill>
                  <a:srgbClr val="4A5A52"/>
                </a:solidFill>
                <a:latin typeface="Calibri" panose="020F0502020204030204"/>
              </a:rPr>
              <a:t>(1) adosser les agents MM à une IMF pour le dépôt et l'épargne ; (2) densifier les agents là où l'on dépasse 2× la référence nationale d'habitants par agent ; (3) services financiers numériques là où le premier établissement est à plus de 10 km. Aucun objectif chiffré.</a:t>
            </a:r>
            <a:endParaRPr sz="1150" b="0" i="0">
              <a:solidFill>
                <a:srgbClr val="4A5A52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Sources : RGPH-5 2022 · PRISE 2021/22 · géoportail 01/2025. Liste complète (52 communes, 14 préfectures) : tableau de bord, page Recommandations.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7D8A83"/>
                </a:solidFill>
                <a:latin typeface="Calibri" panose="020F0502020204030204"/>
              </a:rPr>
              <a:t>9</a:t>
            </a:r>
            <a:endParaRPr sz="900" b="0" i="0">
              <a:solidFill>
                <a:srgbClr val="7D8A83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E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E0A100"/>
                </a:solidFill>
                <a:latin typeface="Calibri" panose="020F0502020204030204"/>
              </a:rPr>
              <a:t>10  ·  LIMITES DES DONNÉES ET CONCLUSION</a:t>
            </a:r>
            <a:endParaRPr sz="1100" b="1" i="0">
              <a:solidFill>
                <a:srgbClr val="E0A100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 panose="020F0502020204030204"/>
              </a:rPr>
              <a:t>Le mobile money maille le pays ; l'offre formelle doit s'y adosser</a:t>
            </a:r>
            <a:endParaRPr sz="28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" name="Oval 3"/>
          <p:cNvSpPr/>
          <p:nvPr/>
        </p:nvSpPr>
        <p:spPr>
          <a:xfrm>
            <a:off x="731520" y="1828800"/>
            <a:ext cx="438912" cy="438912"/>
          </a:xfrm>
          <a:prstGeom prst="ellipse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0B2E21"/>
                </a:solidFill>
                <a:latin typeface="Calibri" panose="020F0502020204030204"/>
              </a:rPr>
              <a:t>1</a:t>
            </a:r>
            <a:endParaRPr sz="1300" b="1">
              <a:solidFill>
                <a:srgbClr val="0B2E21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71600" y="184708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L'usage d'Internet progresse vite (4,5 % → 37,6 %), sur un marché mobile en duopole équilibré.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Oval 5"/>
          <p:cNvSpPr/>
          <p:nvPr/>
        </p:nvSpPr>
        <p:spPr>
          <a:xfrm>
            <a:off x="731520" y="2697480"/>
            <a:ext cx="438912" cy="438912"/>
          </a:xfrm>
          <a:prstGeom prst="ellipse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0B2E21"/>
                </a:solidFill>
                <a:latin typeface="Calibri" panose="020F0502020204030204"/>
              </a:rPr>
              <a:t>2</a:t>
            </a:r>
            <a:endParaRPr sz="1300" b="1">
              <a:solidFill>
                <a:srgbClr val="0B2E21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71600" y="271576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Le réseau d'agents MM (19 788) est 30 fois plus dense que celui des établissements ; 22 communes n'ont que lui.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Oval 7"/>
          <p:cNvSpPr/>
          <p:nvPr/>
        </p:nvSpPr>
        <p:spPr>
          <a:xfrm>
            <a:off x="731520" y="3566160"/>
            <a:ext cx="438912" cy="438912"/>
          </a:xfrm>
          <a:prstGeom prst="ellipse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>
                <a:solidFill>
                  <a:srgbClr val="0B2E21"/>
                </a:solidFill>
                <a:latin typeface="Calibri" panose="020F0502020204030204"/>
              </a:rPr>
              <a:t>3</a:t>
            </a:r>
            <a:endParaRPr sz="1300" b="1">
              <a:solidFill>
                <a:srgbClr val="0B2E21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71600" y="358444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Les 11 communes de priorité 1 se situent en Kara (4), Plateaux (3), Savanes (3), Centrale (1).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75120" y="1783080"/>
            <a:ext cx="4937760" cy="4297680"/>
          </a:xfrm>
          <a:prstGeom prst="roundRect">
            <a:avLst>
              <a:gd name="adj" fmla="val 5000"/>
            </a:avLst>
          </a:prstGeom>
          <a:solidFill>
            <a:srgbClr val="123D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949440" y="19659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 i="0">
                <a:solidFill>
                  <a:srgbClr val="E0A100"/>
                </a:solidFill>
                <a:latin typeface="Calibri" panose="020F0502020204030204"/>
              </a:rPr>
              <a:t>Limites — données non disponibles</a:t>
            </a:r>
            <a:endParaRPr sz="1500" b="1" i="0">
              <a:solidFill>
                <a:srgbClr val="E0A100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949440" y="2468880"/>
            <a:ext cx="448056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50" b="1" i="0">
                <a:solidFill>
                  <a:srgbClr val="E0A100"/>
                </a:solidFill>
                <a:latin typeface="Calibri" panose="020F0502020204030204"/>
              </a:rPr>
              <a:t>—  </a:t>
            </a:r>
            <a:r>
              <a:rPr sz="1250" b="0" i="0">
                <a:solidFill>
                  <a:srgbClr val="DCE8E1"/>
                </a:solidFill>
                <a:latin typeface="Calibri" panose="020F0502020204030204"/>
              </a:rPr>
              <a:t>Aucune date de collecte individuelle : pas d'évolution des points de service.</a:t>
            </a:r>
            <a:endParaRPr sz="1250" b="0" i="0">
              <a:solidFill>
                <a:srgbClr val="DCE8E1"/>
              </a:solidFill>
              <a:latin typeface="Calibri" panose="020F0502020204030204"/>
            </a:endParaRP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50" b="1" i="0">
                <a:solidFill>
                  <a:srgbClr val="E0A100"/>
                </a:solidFill>
                <a:latin typeface="Calibri" panose="020F0502020204030204"/>
              </a:rPr>
              <a:t>—  </a:t>
            </a:r>
            <a:r>
              <a:rPr sz="1250" b="0" i="0">
                <a:solidFill>
                  <a:srgbClr val="DCE8E1"/>
                </a:solidFill>
                <a:latin typeface="Calibri" panose="020F0502020204030204"/>
              </a:rPr>
              <a:t>Ni transactions, ni comptes, ni genre des agents : l'usage réel du MM n'est pas mesuré.</a:t>
            </a:r>
            <a:endParaRPr sz="1250" b="0" i="0">
              <a:solidFill>
                <a:srgbClr val="DCE8E1"/>
              </a:solidFill>
              <a:latin typeface="Calibri" panose="020F0502020204030204"/>
            </a:endParaRP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50" b="1" i="0">
                <a:solidFill>
                  <a:srgbClr val="E0A100"/>
                </a:solidFill>
                <a:latin typeface="Calibri" panose="020F0502020204030204"/>
              </a:rPr>
              <a:t>—  </a:t>
            </a:r>
            <a:r>
              <a:rPr sz="1250" b="0" i="0">
                <a:solidFill>
                  <a:srgbClr val="DCE8E1"/>
                </a:solidFill>
                <a:latin typeface="Calibri" panose="020F0502020204030204"/>
              </a:rPr>
              <a:t>Séries télécoms arrêtées en 2019 ; Internet national uniquement (pas de ventilation territoriale).</a:t>
            </a:r>
            <a:endParaRPr sz="1250" b="0" i="0">
              <a:solidFill>
                <a:srgbClr val="DCE8E1"/>
              </a:solidFill>
              <a:latin typeface="Calibri" panose="020F0502020204030204"/>
            </a:endParaRP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50" b="1" i="0">
                <a:solidFill>
                  <a:srgbClr val="E0A100"/>
                </a:solidFill>
                <a:latin typeface="Calibri" panose="020F0502020204030204"/>
              </a:rPr>
              <a:t>—  </a:t>
            </a:r>
            <a:r>
              <a:rPr sz="1250" b="0" i="0">
                <a:solidFill>
                  <a:srgbClr val="DCE8E1"/>
                </a:solidFill>
                <a:latin typeface="Calibri" panose="020F0502020204030204"/>
              </a:rPr>
              <a:t>Absence dans les données ≠ absence réelle ; distances à vol d'oiseau.</a:t>
            </a:r>
            <a:endParaRPr sz="1250" b="0" i="0">
              <a:solidFill>
                <a:srgbClr val="DCE8E1"/>
              </a:solidFill>
              <a:latin typeface="Calibri" panose="020F0502020204030204"/>
            </a:endParaRP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50" b="1" i="0">
                <a:solidFill>
                  <a:srgbClr val="E0A100"/>
                </a:solidFill>
                <a:latin typeface="Calibri" panose="020F0502020204030204"/>
              </a:rPr>
              <a:t>—  </a:t>
            </a:r>
            <a:r>
              <a:rPr sz="1250" b="0" i="0">
                <a:solidFill>
                  <a:srgbClr val="DCE8E1"/>
                </a:solidFill>
                <a:latin typeface="Calibri" panose="020F0502020204030204"/>
              </a:rPr>
              <a:t>Aucune analyse causale possible (pas de variable explicative).</a:t>
            </a:r>
            <a:endParaRPr sz="1250" b="0" i="0">
              <a:solidFill>
                <a:srgbClr val="DCE8E1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60"/>
            <a:ext cx="5669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 i="0">
                <a:solidFill>
                  <a:srgbClr val="E0A100"/>
                </a:solidFill>
                <a:latin typeface="Calibri" panose="020F0502020204030204"/>
              </a:rPr>
              <a:t>Tableau de bord interactif : </a:t>
            </a:r>
            <a:r>
              <a:rPr sz="1250" b="0" i="0">
                <a:solidFill>
                  <a:srgbClr val="DCE8E1"/>
                </a:solidFill>
                <a:latin typeface="Calibri" panose="020F0502020204030204"/>
              </a:rPr>
              <a:t>7 pages, filtres globaux (période, territoire, opérateur, catégorie, statut), cartes, téléchargements CSV et fiche méthodologique — streamlit run app.py</a:t>
            </a:r>
            <a:endParaRPr sz="1250" b="0" i="0">
              <a:solidFill>
                <a:srgbClr val="DCE8E1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0241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9FB8AA"/>
                </a:solidFill>
                <a:latin typeface="Calibri" panose="020F0502020204030204"/>
              </a:rPr>
              <a:t>Sources : ensemble des fichiers de data/ ; méthode et contrôles : methodologie_et_limites.md, data_dictionary.md.</a:t>
            </a:r>
            <a:endParaRPr sz="900" b="0" i="0">
              <a:solidFill>
                <a:srgbClr val="9FB8AA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9FB8AA"/>
                </a:solidFill>
                <a:latin typeface="Calibri" panose="020F0502020204030204"/>
              </a:rPr>
              <a:t>10</a:t>
            </a:r>
            <a:endParaRPr sz="900" b="0" i="0">
              <a:solidFill>
                <a:srgbClr val="9FB8AA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8851</Words>
  <Application>WPS Presentation</Application>
  <PresentationFormat>On-screen Show (4:3)</PresentationFormat>
  <Paragraphs>364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kprim</cp:lastModifiedBy>
  <cp:revision>2</cp:revision>
  <dcterms:created xsi:type="dcterms:W3CDTF">2013-01-27T09:14:00Z</dcterms:created>
  <dcterms:modified xsi:type="dcterms:W3CDTF">2026-09-21T15:56:22Z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B45A286966AE491D923573DE215E8C9E_12</vt:lpwstr>
  </property>
  <property fmtid="{D5CDD505-2E9C-101B-9397-08002B2CF9AE}" pid="3" name="KSOProductBuildVer">
    <vt:lpwstr>1036-12.1.0.28485</vt:lpwstr>
  </property>
</Properties>
</file>