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Individus utilisant Internet (%)</c:v>
                </c:pt>
              </c:strCache>
            </c:strRef>
          </c:tx>
          <c:spPr>
            <a:ln w="28575">
              <a:solidFill>
                <a:srgbClr val="23836A"/>
              </a:solidFill>
            </a:ln>
          </c:spPr>
          <c:marker>
            <c:symbol val="circle"/>
            <c:size val="6"/>
            <c:spPr>
              <a:solidFill>
                <a:srgbClr val="23836A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17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5211E"/>
                        </a:solidFill>
                        <a:latin typeface="Calibri"/>
                      </a:rPr>
                      <a:t>37,6 %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1.8</c:v>
                </c:pt>
                <c:pt idx="1">
                  <c:v>2.0</c:v>
                </c:pt>
                <c:pt idx="2">
                  <c:v>2.2</c:v>
                </c:pt>
                <c:pt idx="3">
                  <c:v>2.4</c:v>
                </c:pt>
                <c:pt idx="4">
                  <c:v>2.6</c:v>
                </c:pt>
                <c:pt idx="5">
                  <c:v>3.0</c:v>
                </c:pt>
                <c:pt idx="6">
                  <c:v>3.5</c:v>
                </c:pt>
                <c:pt idx="7">
                  <c:v>4.0</c:v>
                </c:pt>
                <c:pt idx="8">
                  <c:v>4.5</c:v>
                </c:pt>
                <c:pt idx="9">
                  <c:v>5.7</c:v>
                </c:pt>
                <c:pt idx="10">
                  <c:v>7.12</c:v>
                </c:pt>
                <c:pt idx="11">
                  <c:v>11.31</c:v>
                </c:pt>
                <c:pt idx="12">
                  <c:v>12.36</c:v>
                </c:pt>
                <c:pt idx="13">
                  <c:v>15.5</c:v>
                </c:pt>
                <c:pt idx="14">
                  <c:v>20.73</c:v>
                </c:pt>
                <c:pt idx="15">
                  <c:v>29.02</c:v>
                </c:pt>
                <c:pt idx="16">
                  <c:v>32.51</c:v>
                </c:pt>
                <c:pt idx="17">
                  <c:v>37.62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D3CB"/>
            </a:solidFill>
          </a:ln>
        </c:spPr>
        <c:txPr>
          <a:bodyPr/>
          <a:lstStyle/>
          <a:p>
            <a:pPr>
              <a:defRPr sz="1000">
                <a:solidFill>
                  <a:srgbClr val="7A8783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6EEEA"/>
              </a:solidFill>
            </a:ln>
          </c:spPr>
        </c:majorGridlines>
        <c:numFmt formatCode="0&quot; 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A8783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2706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Togocom</c:v>
                </c:pt>
              </c:strCache>
            </c:strRef>
          </c:tx>
          <c:spPr>
            <a:ln w="28575">
              <a:solidFill>
                <a:srgbClr val="23836A"/>
              </a:solidFill>
            </a:ln>
          </c:spPr>
          <c:marker>
            <c:symbol val="circle"/>
            <c:size val="6"/>
            <c:spPr>
              <a:solidFill>
                <a:srgbClr val="23836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54.57</c:v>
                </c:pt>
                <c:pt idx="1">
                  <c:v>54.48</c:v>
                </c:pt>
                <c:pt idx="2">
                  <c:v>54.03</c:v>
                </c:pt>
                <c:pt idx="3">
                  <c:v>53.98</c:v>
                </c:pt>
                <c:pt idx="4">
                  <c:v>51.52</c:v>
                </c:pt>
                <c:pt idx="5">
                  <c:v>44.59</c:v>
                </c:pt>
                <c:pt idx="6">
                  <c:v>51.44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Moov</c:v>
                </c:pt>
              </c:strCache>
            </c:strRef>
          </c:tx>
          <c:spPr>
            <a:ln w="28575">
              <a:solidFill>
                <a:srgbClr val="3A5F9E"/>
              </a:solidFill>
            </a:ln>
          </c:spPr>
          <c:marker>
            <c:symbol val="circle"/>
            <c:size val="6"/>
            <c:spPr>
              <a:solidFill>
                <a:srgbClr val="3A5F9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45.43</c:v>
                </c:pt>
                <c:pt idx="1">
                  <c:v>45.52</c:v>
                </c:pt>
                <c:pt idx="2">
                  <c:v>45.97</c:v>
                </c:pt>
                <c:pt idx="3">
                  <c:v>46.02</c:v>
                </c:pt>
                <c:pt idx="4">
                  <c:v>48.48</c:v>
                </c:pt>
                <c:pt idx="5">
                  <c:v>55.41</c:v>
                </c:pt>
                <c:pt idx="6">
                  <c:v>48.56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D3CB"/>
            </a:solidFill>
          </a:ln>
        </c:spPr>
        <c:txPr>
          <a:bodyPr/>
          <a:lstStyle/>
          <a:p>
            <a:pPr>
              <a:defRPr sz="1000">
                <a:solidFill>
                  <a:srgbClr val="7A8783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.0"/>
          <c:min val="40.0"/>
        </c:scaling>
        <c:delete val="0"/>
        <c:axPos val="l"/>
        <c:majorGridlines>
          <c:spPr>
            <a:ln w="9525">
              <a:solidFill>
                <a:srgbClr val="E6EEEA"/>
              </a:solidFill>
            </a:ln>
          </c:spPr>
        </c:majorGridlines>
        <c:numFmt formatCode="0&quot; 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A8783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62706C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2706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2G (GPRS/EDGE)</c:v>
                </c:pt>
              </c:strCache>
            </c:strRef>
          </c:tx>
          <c:spPr>
            <a:solidFill>
              <a:srgbClr val="7FBEA5"/>
            </a:solidFill>
            <a:ln w="12700">
              <a:solidFill>
                <a:srgbClr val="FFFFFF"/>
              </a:solidFill>
            </a:ln>
          </c:spPr>
          <c:cat>
            <c:strRef>
              <c:f>Sheet1!$A$2:$A$5</c:f>
              <c:strCache>
                <c:ptCount val="4"/>
                <c:pt idx="0">
                  <c:v>Togocom 2013</c:v>
                </c:pt>
                <c:pt idx="1">
                  <c:v>Togocom 2019</c:v>
                </c:pt>
                <c:pt idx="2">
                  <c:v>Moov 2013</c:v>
                </c:pt>
                <c:pt idx="3">
                  <c:v>Moov 2019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39594.0</c:v>
                </c:pt>
                <c:pt idx="1">
                  <c:v>1134.0</c:v>
                </c:pt>
                <c:pt idx="2">
                  <c:v>109824.0</c:v>
                </c:pt>
                <c:pt idx="3">
                  <c:v>1328472.0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3G</c:v>
                </c:pt>
              </c:strCache>
            </c:strRef>
          </c:tx>
          <c:spPr>
            <a:solidFill>
              <a:srgbClr val="23836A"/>
            </a:solidFill>
            <a:ln w="12700">
              <a:solidFill>
                <a:srgbClr val="FFFFFF"/>
              </a:solidFill>
            </a:ln>
          </c:spPr>
          <c:cat>
            <c:strRef>
              <c:f>Sheet1!$A$2:$A$5</c:f>
              <c:strCache>
                <c:ptCount val="4"/>
                <c:pt idx="0">
                  <c:v>Togocom 2013</c:v>
                </c:pt>
                <c:pt idx="1">
                  <c:v>Togocom 2019</c:v>
                </c:pt>
                <c:pt idx="2">
                  <c:v>Moov 2013</c:v>
                </c:pt>
                <c:pt idx="3">
                  <c:v>Moov 2019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130019.0</c:v>
                </c:pt>
                <c:pt idx="1">
                  <c:v>1242250.0</c:v>
                </c:pt>
                <c:pt idx="2">
                  <c:v>0.0</c:v>
                </c:pt>
                <c:pt idx="3">
                  <c:v>633580.0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4G</c:v>
                </c:pt>
              </c:strCache>
            </c:strRef>
          </c:tx>
          <c:spPr>
            <a:solidFill>
              <a:srgbClr val="0F4F40"/>
            </a:solidFill>
            <a:ln w="12700">
              <a:solidFill>
                <a:srgbClr val="FFFFFF"/>
              </a:solidFill>
            </a:ln>
          </c:spPr>
          <c:cat>
            <c:strRef>
              <c:f>Sheet1!$A$2:$A$5</c:f>
              <c:strCache>
                <c:ptCount val="4"/>
                <c:pt idx="0">
                  <c:v>Togocom 2013</c:v>
                </c:pt>
                <c:pt idx="1">
                  <c:v>Togocom 2019</c:v>
                </c:pt>
                <c:pt idx="2">
                  <c:v>Moov 2013</c:v>
                </c:pt>
                <c:pt idx="3">
                  <c:v>Moov 2019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174474.0</c:v>
                </c:pt>
                <c:pt idx="2">
                  <c:v>0.0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D3CB"/>
            </a:solidFill>
          </a:ln>
        </c:spPr>
        <c:txPr>
          <a:bodyPr/>
          <a:lstStyle/>
          <a:p>
            <a:pPr>
              <a:defRPr sz="1000">
                <a:solidFill>
                  <a:srgbClr val="7A878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6EEEA"/>
              </a:solidFill>
            </a:ln>
          </c:spPr>
        </c:majorGridlines>
        <c:numFmt formatCode="0.0,,&quot; M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A878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62706C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62706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Habitants par établissement</c:v>
                </c:pt>
              </c:strCache>
            </c:strRef>
          </c:tx>
          <c:spPr>
            <a:solidFill>
              <a:srgbClr val="4F5E5A"/>
            </a:solidFill>
            <a:ln w="12700"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62706C"/>
                        </a:solidFill>
                        <a:latin typeface="Calibri"/>
                      </a:rPr>
                      <a:t>18 746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62706C"/>
                        </a:solidFill>
                        <a:latin typeface="Calibri"/>
                      </a:rPr>
                      <a:t>12 967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62706C"/>
                        </a:solidFill>
                        <a:latin typeface="Calibri"/>
                      </a:rPr>
                      <a:t>12 831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62706C"/>
                        </a:solidFill>
                        <a:latin typeface="Calibri"/>
                      </a:rPr>
                      <a:t>16 197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62706C"/>
                        </a:solidFill>
                        <a:latin typeface="Calibri"/>
                      </a:rPr>
                      <a:t>9 930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Savanes</c:v>
                </c:pt>
                <c:pt idx="1">
                  <c:v>Kara</c:v>
                </c:pt>
                <c:pt idx="2">
                  <c:v>Centrale</c:v>
                </c:pt>
                <c:pt idx="3">
                  <c:v>Plateaux</c:v>
                </c:pt>
                <c:pt idx="4">
                  <c:v>Maritime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18746</c:v>
                </c:pt>
                <c:pt idx="1">
                  <c:v>12967</c:v>
                </c:pt>
                <c:pt idx="2">
                  <c:v>12831</c:v>
                </c:pt>
                <c:pt idx="3">
                  <c:v>16197</c:v>
                </c:pt>
                <c:pt idx="4">
                  <c:v>9930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3D3CB"/>
            </a:solidFill>
          </a:ln>
        </c:spPr>
        <c:txPr>
          <a:bodyPr/>
          <a:lstStyle/>
          <a:p>
            <a:pPr>
              <a:defRPr sz="1000">
                <a:solidFill>
                  <a:srgbClr val="7A878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870.12"/>
          <c:min val="0.0"/>
        </c:scaling>
        <c:delete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A878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2706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 des agents (%)</c:v>
                </c:pt>
              </c:strCache>
            </c:strRef>
          </c:tx>
          <c:spPr>
            <a:solidFill>
              <a:srgbClr val="4F5E5A"/>
            </a:solidFill>
            <a:ln w="12700">
              <a:solidFill>
                <a:srgbClr val="FFFFFF"/>
              </a:solidFill>
            </a:ln>
          </c:spPr>
          <c:dPt>
            <c:idx val="0"/>
            <c:spPr>
              <a:solidFill>
                <a:srgbClr val="98ADA5"/>
              </a:solidFill>
            </c:spPr>
          </c:dPt>
          <c:dPt>
            <c:idx val="1"/>
            <c:spPr>
              <a:solidFill>
                <a:srgbClr val="768E86"/>
              </a:solidFill>
            </c:spPr>
          </c:dPt>
          <c:dPt>
            <c:idx val="2"/>
            <c:spPr>
              <a:solidFill>
                <a:srgbClr val="566E67"/>
              </a:solidFill>
            </c:spPr>
          </c:dPt>
          <c:dPt>
            <c:idx val="3"/>
            <c:spPr>
              <a:solidFill>
                <a:srgbClr val="3A504A"/>
              </a:solidFill>
            </c:spPr>
          </c:dPt>
          <c:dPt>
            <c:idx val="4"/>
            <c:spPr>
              <a:solidFill>
                <a:srgbClr val="22332F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62706C"/>
                        </a:solidFill>
                        <a:latin typeface="Calibri"/>
                      </a:rPr>
                      <a:t>74,0 %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62706C"/>
                        </a:solidFill>
                        <a:latin typeface="Calibri"/>
                      </a:rPr>
                      <a:t>10,8 %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62706C"/>
                        </a:solidFill>
                        <a:latin typeface="Calibri"/>
                      </a:rPr>
                      <a:t>7,5 %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62706C"/>
                        </a:solidFill>
                        <a:latin typeface="Calibri"/>
                      </a:rPr>
                      <a:t>6,4 %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62706C"/>
                        </a:solidFill>
                        <a:latin typeface="Calibri"/>
                      </a:rPr>
                      <a:t>1,3 %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&lt; 2 km</c:v>
                </c:pt>
                <c:pt idx="1">
                  <c:v>2–5 km</c:v>
                </c:pt>
                <c:pt idx="2">
                  <c:v>5–10 km</c:v>
                </c:pt>
                <c:pt idx="3">
                  <c:v>10–20 km</c:v>
                </c:pt>
                <c:pt idx="4">
                  <c:v>≥ 20 km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74.0</c:v>
                </c:pt>
                <c:pt idx="1">
                  <c:v>10.8</c:v>
                </c:pt>
                <c:pt idx="2">
                  <c:v>7.5</c:v>
                </c:pt>
                <c:pt idx="3">
                  <c:v>6.4</c:v>
                </c:pt>
                <c:pt idx="4">
                  <c:v>1.3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D3CB"/>
            </a:solidFill>
          </a:ln>
        </c:spPr>
        <c:txPr>
          <a:bodyPr/>
          <a:lstStyle/>
          <a:p>
            <a:pPr>
              <a:defRPr sz="1000">
                <a:solidFill>
                  <a:srgbClr val="7A878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28"/>
          <c:min val="0.0"/>
        </c:scaling>
        <c:delete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A878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2706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2022</c:v>
                </c:pt>
              </c:strCache>
            </c:strRef>
          </c:tx>
          <c:spPr>
            <a:solidFill>
              <a:srgbClr val="B7463B"/>
            </a:solidFill>
            <a:ln w="12700"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62706C"/>
                        </a:solidFill>
                        <a:latin typeface="Calibri"/>
                      </a:rPr>
                      <a:t>76 652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62706C"/>
                        </a:solidFill>
                        <a:latin typeface="Calibri"/>
                      </a:rPr>
                      <a:t>66 577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62706C"/>
                        </a:solidFill>
                        <a:latin typeface="Calibri"/>
                      </a:rPr>
                      <a:t>58 695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62706C"/>
                        </a:solidFill>
                        <a:latin typeface="Calibri"/>
                      </a:rPr>
                      <a:t>53 305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62706C"/>
                        </a:solidFill>
                        <a:latin typeface="Calibri"/>
                      </a:rPr>
                      <a:t>50 179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62706C"/>
                        </a:solidFill>
                        <a:latin typeface="Calibri"/>
                      </a:rPr>
                      <a:t>47 903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62706C"/>
                        </a:solidFill>
                        <a:latin typeface="Calibri"/>
                      </a:rPr>
                      <a:t>45 218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62706C"/>
                        </a:solidFill>
                        <a:latin typeface="Calibri"/>
                      </a:rPr>
                      <a:t>40 462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62706C"/>
                        </a:solidFill>
                        <a:latin typeface="Calibri"/>
                      </a:rPr>
                      <a:t>32 716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62706C"/>
                        </a:solidFill>
                        <a:latin typeface="Calibri"/>
                      </a:rPr>
                      <a:t>30 983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Dankpen 3</c:v>
                </c:pt>
                <c:pt idx="1">
                  <c:v>Tône 4</c:v>
                </c:pt>
                <c:pt idx="2">
                  <c:v>Haho 3</c:v>
                </c:pt>
                <c:pt idx="3">
                  <c:v>Kéran 2</c:v>
                </c:pt>
                <c:pt idx="4">
                  <c:v>Tône 2</c:v>
                </c:pt>
                <c:pt idx="5">
                  <c:v>Kpendjal 1</c:v>
                </c:pt>
                <c:pt idx="6">
                  <c:v>Blitta 3</c:v>
                </c:pt>
                <c:pt idx="7">
                  <c:v>Kpendjal 2</c:v>
                </c:pt>
                <c:pt idx="8">
                  <c:v>Dankpen 2</c:v>
                </c:pt>
                <c:pt idx="9">
                  <c:v>Kéran 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76652</c:v>
                </c:pt>
                <c:pt idx="1">
                  <c:v>66577</c:v>
                </c:pt>
                <c:pt idx="2">
                  <c:v>58695</c:v>
                </c:pt>
                <c:pt idx="3">
                  <c:v>53305</c:v>
                </c:pt>
                <c:pt idx="4">
                  <c:v>50179</c:v>
                </c:pt>
                <c:pt idx="5">
                  <c:v>47903</c:v>
                </c:pt>
                <c:pt idx="6">
                  <c:v>45218</c:v>
                </c:pt>
                <c:pt idx="7">
                  <c:v>40462</c:v>
                </c:pt>
                <c:pt idx="8">
                  <c:v>32716</c:v>
                </c:pt>
                <c:pt idx="9">
                  <c:v>30983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3D3CB"/>
            </a:solidFill>
          </a:ln>
        </c:spPr>
        <c:txPr>
          <a:bodyPr/>
          <a:lstStyle/>
          <a:p>
            <a:pPr>
              <a:defRPr sz="1000">
                <a:solidFill>
                  <a:srgbClr val="7A878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3515.44"/>
          <c:min val="0.0"/>
        </c:scaling>
        <c:delete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A878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2706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chiffres sont recalculés par src/rapport.py depuis data_processed/ : WDI 2022 ; nombre de lignes du fichier agents ; communes (unités RGPH-5) avec agents &gt; 0 et établissements (banque, micro-finance, mutuelle ; statuts en activité ou non renseigné) =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Habitants par agent = population RGPH-5 2022 ÷ agents ; habitants par établissement = population ÷ établissements de dépôt/crédit ; agents par établissement = agents ÷ établissements.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Dictionnaire de données et journal de qualité générés automatiquement : data_dictionary.md, data_processed/journal_qualite.csv. La période PRISE 2021/22 provient de l'audit du catalogue du géoportail (Défi 1) ; les agents fournis y sont identiques.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Variation = taux(année) − taux(année précédente). Accélération : variation &gt; variation précédente + 0,1 pt. Aucune variable explicative n'est disponible : les phases ne sont pas interprétées causalement.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HHI = somme des carrés des parts de marché ; avec deux opérateurs il ne peut descendre sous 5 000. Taux d'investissement = investissement ÷ CA. Périmètre du CA non précisé dans la source ; ARPU exclu (unité incohérente).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Carte : habitants par établissement de dépôt/crédit par préfecture ; points noirs = établissements (coordonnées GPS). Dénominateur : population RGPH-5 2022 de la même préfecture ; Maritime inclut le Grand Lomé. Catégories et statuts : banques, micro-finance, mutuelles ; en activité ou statut non renseigné.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commune « sans établissement » l'est dans les données fournies : l'absence réelle du service n'est pas démontrable. Cantons : comptages sans population (appariement non fiable).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Indicateurs : habitants par agent, habitants par établissement (aucun = rang le plus défavorable), distance médiane agent → établissement, part des agents à plus de 5 km. Rang moyen = moyenne des 4 rangs centiles.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Règles : C1 établissements = 0 et agents &gt; 0 ; C2 habitants/agent &gt; 2 × référence nationale (409) ; C3 distance médiane &gt; 10 km ; C4 établissements &gt; 0 et ≥ 50 % des agents à &gt; 5 km. Les impacts désignent l'indicateur à suivre ; aucun effet n'est chiffré.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 fondée exclusivement sur les indicateurs calculés ; les limites reprennent l'onglet « Analyses impossibles » du tableau de bord.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6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moi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920750" cy="1325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8308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76B57"/>
                </a:solidFill>
                <a:latin typeface="Calibri"/>
              </a:rPr>
              <a:t>DÉFI 2 · ÉCONOMIE NUMÉRIQUE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1887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62706C"/>
                </a:solidFill>
                <a:latin typeface="Calibri"/>
              </a:rPr>
              <a:t>Rapport d'analyse et tableau de bord interactif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5211E"/>
                </a:solidFill>
                <a:latin typeface="Calibri"/>
              </a:rPr>
              <a:t>Adoption du numérique et inclusion financière par le mobile money au Togo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62706C"/>
                </a:solidFill>
                <a:latin typeface="Calibri"/>
              </a:rPr>
              <a:t>Objectif : mesurer, à partir des seules données disponibles, où le réseau d'agents mobile money supplée l'absence d'offre financière formelle — et où agir en priorité.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EFF8F4"/>
          </a:solidFill>
          <a:ln w="9525">
            <a:solidFill>
              <a:srgbClr val="D4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464515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6B57"/>
                </a:solidFill>
                <a:latin typeface="Calibri"/>
              </a:rPr>
              <a:t>37,6 %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48656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62706C"/>
                </a:solidFill>
                <a:latin typeface="Calibri"/>
              </a:rPr>
              <a:t>de la population utilise Internet (2022)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48056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EFF8F4"/>
          </a:solidFill>
          <a:ln w="9525">
            <a:solidFill>
              <a:srgbClr val="D4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09159" y="464515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6B57"/>
                </a:solidFill>
                <a:latin typeface="Calibri"/>
              </a:rPr>
              <a:t>19 788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5248656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62706C"/>
                </a:solidFill>
                <a:latin typeface="Calibri"/>
              </a:rPr>
              <a:t>agents mobile money géolocalisés (2021/22)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48056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EFF8F4"/>
          </a:solidFill>
          <a:ln w="9525">
            <a:solidFill>
              <a:srgbClr val="D4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464515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B7463B"/>
                </a:solidFill>
                <a:latin typeface="Calibri"/>
              </a:rPr>
              <a:t>22 communes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248656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62706C"/>
                </a:solidFill>
                <a:latin typeface="Calibri"/>
              </a:rPr>
              <a:t>sans établissement de dépôt/crédit recensé (759 599 hab.)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Sources : RGPH-5 2022 (INSEED) · Géoportail PRISE · Banque mondiale (WDI/UIT) · séries sectorielles télécoms 2013–2019. Aucune valeur imputée.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C7851A"/>
                </a:solidFill>
                <a:latin typeface="Calibri"/>
              </a:rPr>
              <a:t>02  ·  </a:t>
            </a:r>
            <a:r>
              <a:rPr sz="1100" b="1" i="0">
                <a:solidFill>
                  <a:srgbClr val="23836A"/>
                </a:solidFill>
                <a:latin typeface="Calibri"/>
              </a:rPr>
              <a:t>PROBLÉMATIQUE ET ENJEUX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5211E"/>
                </a:solidFill>
                <a:latin typeface="Calibri"/>
              </a:rPr>
              <a:t>Un réseau de proximité dense, une offre financière formelle rare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62706C"/>
                </a:solidFill>
                <a:latin typeface="Calibri"/>
              </a:rPr>
              <a:t>Le mobile money peut-il compenser l'absence de banques et d'IMF ? Où l'accès reste-t-il fragile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3520440" cy="3063240"/>
          </a:xfrm>
          <a:prstGeom prst="roundRect">
            <a:avLst>
              <a:gd name="adj" fmla="val 8000"/>
            </a:avLst>
          </a:prstGeom>
          <a:solidFill>
            <a:srgbClr val="EF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59" y="2377440"/>
            <a:ext cx="457200" cy="457200"/>
          </a:xfrm>
          <a:prstGeom prst="ellipse">
            <a:avLst/>
          </a:prstGeom>
          <a:solidFill>
            <a:srgbClr val="238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43230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5211E"/>
                </a:solidFill>
                <a:latin typeface="Calibri"/>
              </a:rPr>
              <a:t>Adoption du numérique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632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 i="0">
                <a:solidFill>
                  <a:srgbClr val="23836A"/>
                </a:solidFill>
                <a:latin typeface="Calibri"/>
              </a:rPr>
              <a:t>37,6 %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886200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62706C"/>
                </a:solidFill>
                <a:latin typeface="Calibri"/>
              </a:rPr>
              <a:t>des Togolais utilisent Internet en 2022, contre 4,5 % en 2013 ; 99 % des abonnements Internet sont mobiles (2019).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148840"/>
            <a:ext cx="3520440" cy="3063240"/>
          </a:xfrm>
          <a:prstGeom prst="roundRect">
            <a:avLst>
              <a:gd name="adj" fmla="val 8000"/>
            </a:avLst>
          </a:prstGeom>
          <a:solidFill>
            <a:srgbClr val="EF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71999" y="2377440"/>
            <a:ext cx="457200" cy="457200"/>
          </a:xfrm>
          <a:prstGeom prst="ellipse">
            <a:avLst/>
          </a:prstGeom>
          <a:solidFill>
            <a:srgbClr val="C78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59" y="243230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5211E"/>
                </a:solidFill>
                <a:latin typeface="Calibri"/>
              </a:rPr>
              <a:t>Réseau mobile 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0632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 i="0">
                <a:solidFill>
                  <a:srgbClr val="8A5A0E"/>
                </a:solidFill>
                <a:latin typeface="Calibri"/>
              </a:rPr>
              <a:t>19 788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886200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62706C"/>
                </a:solidFill>
                <a:latin typeface="Calibri"/>
              </a:rPr>
              <a:t>agents présents dans les 117 communes, soit 409 habitants par agent.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148840"/>
            <a:ext cx="3520440" cy="3063240"/>
          </a:xfrm>
          <a:prstGeom prst="roundRect">
            <a:avLst>
              <a:gd name="adj" fmla="val 8000"/>
            </a:avLst>
          </a:prstGeom>
          <a:solidFill>
            <a:srgbClr val="EF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321040" y="2377440"/>
            <a:ext cx="457200" cy="457200"/>
          </a:xfrm>
          <a:prstGeom prst="ellipse">
            <a:avLst/>
          </a:prstGeom>
          <a:solidFill>
            <a:srgbClr val="B74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399" y="243230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5211E"/>
                </a:solidFill>
                <a:latin typeface="Calibri"/>
              </a:rPr>
              <a:t>Offre financière formelle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 i="0">
                <a:solidFill>
                  <a:srgbClr val="B7463B"/>
                </a:solidFill>
                <a:latin typeface="Calibri"/>
              </a:rPr>
              <a:t>656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86200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62706C"/>
                </a:solidFill>
                <a:latin typeface="Calibri"/>
              </a:rPr>
              <a:t>établissements de dépôt/crédit : 12 341 habitants par établissement, aucun dans 22 communes.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555040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B7463B"/>
                </a:solidFill>
                <a:latin typeface="Calibri"/>
              </a:rPr>
              <a:t>Enjeu : </a:t>
            </a:r>
            <a:r>
              <a:rPr sz="1400" b="0" i="0">
                <a:solidFill>
                  <a:srgbClr val="15211E"/>
                </a:solidFill>
                <a:latin typeface="Calibri"/>
              </a:rPr>
              <a:t>30 agents MM pour un établissement financier. Là où aucun établissement n'est recensé, l'agent MM est le seul point d'accès physique à un service financier.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Sources : Banque mondiale (WDI/UIT) · Géoportail PRISE 2021/22 (agents) · géoportail, extraction 01/2025 (établissements) · RGPH-5 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C7851A"/>
                </a:solidFill>
                <a:latin typeface="Calibri"/>
              </a:rPr>
              <a:t>03  ·  </a:t>
            </a:r>
            <a:r>
              <a:rPr sz="1100" b="1" i="0">
                <a:solidFill>
                  <a:srgbClr val="23836A"/>
                </a:solidFill>
                <a:latin typeface="Calibri"/>
              </a:rPr>
              <a:t>DONNÉES, PÉRIMÈTRE ET RÈGLES DE QUALITÉ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5211E"/>
                </a:solidFill>
                <a:latin typeface="Calibri"/>
              </a:rPr>
              <a:t>Huit fichiers sources, zéro valeur imputée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62706C"/>
                </a:solidFill>
                <a:latin typeface="Calibri"/>
              </a:rPr>
              <a:t>Seuls les fichiers de data/ et, faute de géométrie, les contours préfectoraux du Défi 1 sont mobilisés.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676655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874519"/>
                <a:gridCol w="1463040"/>
                <a:gridCol w="1188720"/>
              </a:tblGrid>
              <a:tr h="44577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36576" marB="36576" anchor="ctr">
                    <a:solidFill>
                      <a:srgbClr val="176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Contenu</a:t>
                      </a:r>
                    </a:p>
                  </a:txBody>
                  <a:tcPr marL="73152" marR="73152" marT="36576" marB="36576" anchor="ctr">
                    <a:solidFill>
                      <a:srgbClr val="176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Période</a:t>
                      </a:r>
                    </a:p>
                  </a:txBody>
                  <a:tcPr marL="73152" marR="73152" marT="36576" marB="36576" anchor="ctr">
                    <a:solidFill>
                      <a:srgbClr val="176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Maille la plus fine</a:t>
                      </a:r>
                    </a:p>
                  </a:txBody>
                  <a:tcPr marL="73152" marR="73152" marT="36576" marB="36576" anchor="ctr">
                    <a:solidFill>
                      <a:srgbClr val="176B57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Agents mobile money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19 788 points GPS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2021/22 (PRISE)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Canton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Établissements financiers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738 points GPS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Non datée (extr. 2025)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Canton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Population RGPH-5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759 lignes (5 niveaux)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Canton/quartier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Internet — Banque mondiale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% de la population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1960–2022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National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Abonnés Internet, technologies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25 indicateurs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2013–2019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National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Marché télécom (CA, parts…)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10 indicateurs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2013–2019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National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Schémas des couches (2)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46 et 107 champs décrits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21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26679" y="2103120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23836A"/>
                </a:solidFill>
                <a:latin typeface="Calibri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2148839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62706C"/>
                </a:solidFill>
                <a:latin typeface="Calibri"/>
              </a:rPr>
              <a:t>contrôles automatiques rejoués à chaque exécution (45 conformes, 2 écarts documentés)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99923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23836A"/>
                </a:solidFill>
                <a:latin typeface="Calibri"/>
              </a:rPr>
              <a:t>98,4 %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3044951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62706C"/>
                </a:solidFill>
                <a:latin typeface="Calibri"/>
              </a:rPr>
              <a:t>des agents (99,2 % des établissements) situés dans la préfecture qu'ils déclarent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895344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23836A"/>
                </a:solidFill>
                <a:latin typeface="Calibri"/>
              </a:rPr>
              <a:t>116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941063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62706C"/>
                </a:solidFill>
                <a:latin typeface="Calibri"/>
              </a:rPr>
              <a:t>unités communales appariées à la population (Danyi 1 + 2 fusionnées dans la source)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791456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23836A"/>
                </a:solidFill>
                <a:latin typeface="Calibri"/>
              </a:rPr>
              <a:t>7 / 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837176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62706C"/>
                </a:solidFill>
                <a:latin typeface="Calibri"/>
              </a:rPr>
              <a:t>champs du schéma agents présents dans le fichier (13 / 107 pour les établissements)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06440"/>
            <a:ext cx="11064240" cy="475488"/>
          </a:xfrm>
          <a:prstGeom prst="roundRect">
            <a:avLst>
              <a:gd name="adj" fmla="val 8000"/>
            </a:avLst>
          </a:prstGeom>
          <a:solidFill>
            <a:srgbClr val="EF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5852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62706C"/>
                </a:solidFill>
                <a:latin typeface="Calibri"/>
              </a:rPr>
              <a:t>Jointure impossible : </a:t>
            </a:r>
            <a:r>
              <a:rPr sz="1200" b="0" i="0">
                <a:solidFill>
                  <a:srgbClr val="62706C"/>
                </a:solidFill>
                <a:latin typeface="Calibri"/>
              </a:rPr>
              <a:t>population × canton (orthographes divergentes, quartiers du Grand Lomé) — ratios calculés aux seuls niveaux région, préfecture, commune. ARPU exclu (unité incohérente).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Sources : data/ (8 fichiers) · contours COD-AB OCHA via Défi 1 · journal : data_processed/controles_qualite.csv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C7851A"/>
                </a:solidFill>
                <a:latin typeface="Calibri"/>
              </a:rPr>
              <a:t>04  ·  </a:t>
            </a:r>
            <a:r>
              <a:rPr sz="1100" b="1" i="0">
                <a:solidFill>
                  <a:srgbClr val="23836A"/>
                </a:solidFill>
                <a:latin typeface="Calibri"/>
              </a:rPr>
              <a:t>ÉVOLUTION DE L'USAGE D'INTERNET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5211E"/>
                </a:solidFill>
                <a:latin typeface="Calibri"/>
              </a:rPr>
              <a:t>L'usage d'Internet s'accélère après 2017 : +2,0 pt par an, puis +5,1 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62706C"/>
                </a:solidFill>
                <a:latin typeface="Calibri"/>
              </a:rPr>
              <a:t>Individus utilisant Internet, % de la population — de 4,5 % (2013) à 37,6 % (2022).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65960"/>
          <a:ext cx="75895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210312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23836A"/>
                </a:solidFill>
                <a:latin typeface="Calibri"/>
              </a:rPr>
              <a:t>×2,6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70662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62706C"/>
                </a:solidFill>
                <a:latin typeface="Calibri"/>
              </a:rPr>
              <a:t>gain annuel moyen 2017–2022 rapporté à 2013–2017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42900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8A5A0E"/>
                </a:solidFill>
                <a:latin typeface="Calibri"/>
              </a:rPr>
              <a:t>+8,3 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403250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62706C"/>
                </a:solidFill>
                <a:latin typeface="Calibri"/>
              </a:rPr>
              <a:t>plus forte hausse annuelle (2020)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75488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3A5F9E"/>
                </a:solidFill>
                <a:latin typeface="Calibri"/>
              </a:rPr>
              <a:t>44,8 %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35838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62706C"/>
                </a:solidFill>
                <a:latin typeface="Calibri"/>
              </a:rPr>
              <a:t>pénétration par abonnements en 2019, contre 20,7 % d'individus : multi-abonnements, mesures non substituables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Sources : Banque mondiale, WDI (donnée UIT) ; séries sectorielles 2013–2019. Aucune valeur 2023. Lecture descriptive, sans causalité.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C7851A"/>
                </a:solidFill>
                <a:latin typeface="Calibri"/>
              </a:rPr>
              <a:t>05  ·  </a:t>
            </a:r>
            <a:r>
              <a:rPr sz="1100" b="1" i="0">
                <a:solidFill>
                  <a:srgbClr val="23836A"/>
                </a:solidFill>
                <a:latin typeface="Calibri"/>
              </a:rPr>
              <a:t>RÉSULTATS SUR LE MARCHÉ DES TÉLÉCOMMUNICATIONS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5211E"/>
                </a:solidFill>
                <a:latin typeface="Calibri"/>
              </a:rPr>
              <a:t>Un duopole serré ; 61 % de l'Internet mobile en haut débit (2019)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62706C"/>
                </a:solidFill>
                <a:latin typeface="Calibri"/>
              </a:rPr>
              <a:t>Parts de marché en abonnés mobiles 2019 : Togocom 51,4 %, Moov 48,6 % — HHI 5 004.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65960"/>
          <a:ext cx="539496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303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7A8783"/>
                </a:solidFill>
                <a:latin typeface="Calibri"/>
              </a:rPr>
              <a:t>Parts de marché en abonnés mobiles (%)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72200" y="1965960"/>
          <a:ext cx="548640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523036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7A8783"/>
                </a:solidFill>
                <a:latin typeface="Calibri"/>
              </a:rPr>
              <a:t>Abonnés Internet mobile par technologie (4G Moov 2019 absente de la source)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9612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23836A"/>
                </a:solidFill>
                <a:latin typeface="Calibri"/>
              </a:rPr>
              <a:t>184,9 Md FCFA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62706C"/>
                </a:solidFill>
                <a:latin typeface="Calibri"/>
              </a:rPr>
              <a:t>chiffre d'affaires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559612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23836A"/>
                </a:solidFill>
                <a:latin typeface="Calibri"/>
              </a:rPr>
              <a:t>25,5 %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98932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62706C"/>
                </a:solidFill>
                <a:latin typeface="Calibri"/>
              </a:rPr>
              <a:t>taux d'investissement 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559612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23836A"/>
                </a:solidFill>
                <a:latin typeface="Calibri"/>
              </a:rPr>
              <a:t>6 888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598932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62706C"/>
                </a:solidFill>
                <a:latin typeface="Calibri"/>
              </a:rPr>
              <a:t>abonnés fibre (FTTH) en 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399" y="559612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23836A"/>
                </a:solidFill>
                <a:latin typeface="Calibri"/>
              </a:rPr>
              <a:t>3,4 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399" y="598932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62706C"/>
                </a:solidFill>
                <a:latin typeface="Calibri"/>
              </a:rPr>
              <a:t>abonnements Internet 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Sources : séries sectorielles 2013–2019 (observationdata-mesqyx, -cxnvmoc). Togo Cellulaire → Togocom ; Atlantique Telecom → Moov.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C7851A"/>
                </a:solidFill>
                <a:latin typeface="Calibri"/>
              </a:rPr>
              <a:t>06  ·  </a:t>
            </a:r>
            <a:r>
              <a:rPr sz="1100" b="1" i="0">
                <a:solidFill>
                  <a:srgbClr val="23836A"/>
                </a:solidFill>
                <a:latin typeface="Calibri"/>
              </a:rPr>
              <a:t>RÉPARTITION TERRITORIALE DES SERVICES FINANCIERS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5211E"/>
                </a:solidFill>
                <a:latin typeface="Calibri"/>
              </a:rPr>
              <a:t>Offre formelle : 1 établissement pour 18 746 habitants en Savanes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62706C"/>
                </a:solidFill>
                <a:latin typeface="Calibri"/>
              </a:rPr>
              <a:t>Contre 9 930 en Maritime. La préfecture de Kpendjal (88 365 hab.) n'a aucun établissement de dépôt/crédit recensé.</a:t>
            </a:r>
          </a:p>
        </p:txBody>
      </p:sp>
      <p:pic>
        <p:nvPicPr>
          <p:cNvPr id="5" name="Picture 4" descr="carte_hab_par_etabliss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3603413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23360" y="19202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5211E"/>
                </a:solidFill>
                <a:latin typeface="Calibri"/>
              </a:rPr>
              <a:t>Habitants par établissement de dépôt/crédit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931920" y="2240280"/>
          <a:ext cx="4023360" cy="2697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0233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EF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206240" y="5166360"/>
            <a:ext cx="35661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23836A"/>
                </a:solidFill>
                <a:latin typeface="Calibri"/>
              </a:rPr>
              <a:t>54 % </a:t>
            </a:r>
            <a:r>
              <a:rPr sz="1250" b="0" i="0">
                <a:solidFill>
                  <a:srgbClr val="62706C"/>
                </a:solidFill>
                <a:latin typeface="Calibri"/>
              </a:rPr>
              <a:t>des établissements sont en région Maritime, </a:t>
            </a:r>
            <a:r>
              <a:rPr sz="1250" b="0" i="0">
                <a:solidFill>
                  <a:srgbClr val="62706C"/>
                </a:solidFill>
                <a:latin typeface="Calibri"/>
              </a:rPr>
              <a:t>qui compte 44 % de la population.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6596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 i="0">
                <a:solidFill>
                  <a:srgbClr val="23836A"/>
                </a:solidFill>
                <a:latin typeface="Calibri"/>
              </a:rPr>
              <a:t>404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4963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62706C"/>
                </a:solidFill>
                <a:latin typeface="Calibri"/>
              </a:rPr>
              <a:t>points de micro-finance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04495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 i="0">
                <a:solidFill>
                  <a:srgbClr val="23836A"/>
                </a:solidFill>
                <a:latin typeface="Calibri"/>
              </a:rPr>
              <a:t>243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57530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62706C"/>
                </a:solidFill>
                <a:latin typeface="Calibri"/>
              </a:rPr>
              <a:t>agences bancaires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123944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 i="0">
                <a:solidFill>
                  <a:srgbClr val="23836A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65429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62706C"/>
                </a:solidFill>
                <a:latin typeface="Calibri"/>
              </a:rPr>
              <a:t>mutuelles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202936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 i="0">
                <a:solidFill>
                  <a:srgbClr val="23836A"/>
                </a:solidFill>
                <a:latin typeface="Calibri"/>
              </a:rPr>
              <a:t>68 %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7332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62706C"/>
                </a:solidFill>
                <a:latin typeface="Calibri"/>
              </a:rPr>
              <a:t>des établissements ouverts le samedi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Sources : Géoportail PRISE 2021/22 (agents) · géoportail, extraction 01/2025 (établissements) · RGPH-5 2022 · contours COD-AB OCHA (Défi 1).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C7851A"/>
                </a:solidFill>
                <a:latin typeface="Calibri"/>
              </a:rPr>
              <a:t>07  ·  </a:t>
            </a:r>
            <a:r>
              <a:rPr sz="1100" b="1" i="0">
                <a:solidFill>
                  <a:srgbClr val="23836A"/>
                </a:solidFill>
                <a:latin typeface="Calibri"/>
              </a:rPr>
              <a:t>RÔLE DU MOBILE MONEY DANS L'ACCÈS TERRITORIAL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5211E"/>
                </a:solidFill>
                <a:latin typeface="Calibri"/>
              </a:rPr>
              <a:t>L'agent MM est le seul point de service financier pour 759 599 habitants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62706C"/>
                </a:solidFill>
                <a:latin typeface="Calibri"/>
              </a:rPr>
              <a:t>22 communes (9,4 % de la population) comptent des agents MM mais aucun établissement de dépôt/crédit recensé.</a:t>
            </a:r>
          </a:p>
        </p:txBody>
      </p:sp>
      <p:pic>
        <p:nvPicPr>
          <p:cNvPr id="5" name="Picture 4" descr="carte_communes_mm_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3603413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2336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5211E"/>
                </a:solidFill>
                <a:latin typeface="Calibri"/>
              </a:rPr>
              <a:t>Distance de chaque agent au premier établissement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931920" y="2286000"/>
          <a:ext cx="420624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023360" y="52120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7A8783"/>
                </a:solidFill>
                <a:latin typeface="Calibri"/>
              </a:rPr>
              <a:t>Part des 19 788 agents MM, distance à vol d'oiseau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9659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23836A"/>
                </a:solidFill>
                <a:latin typeface="Calibri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56946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62706C"/>
                </a:solidFill>
                <a:latin typeface="Calibri"/>
              </a:rPr>
              <a:t>agents MM pour un établissement de dépôt/crédit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3375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23836A"/>
                </a:solidFill>
                <a:latin typeface="Calibri"/>
              </a:rPr>
              <a:t>15,2 %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941063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62706C"/>
                </a:solidFill>
                <a:latin typeface="Calibri"/>
              </a:rPr>
              <a:t>des agents à plus de 5 km du premier établissement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7091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B7463B"/>
                </a:solidFill>
                <a:latin typeface="Calibri"/>
              </a:rPr>
              <a:t>244 / 373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31266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62706C"/>
                </a:solidFill>
                <a:latin typeface="Calibri"/>
              </a:rPr>
              <a:t>cantons avec agents MM et sans établissement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Sources : Géoportail PRISE 2021/22 (agents) · géoportail, extraction 01/2025 (établissements) · RGPH-5 2022. Distances : BallTree haversine, sans réseau routier ni établissements hors frontière.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C7851A"/>
                </a:solidFill>
                <a:latin typeface="Calibri"/>
              </a:rPr>
              <a:t>08  ·  </a:t>
            </a:r>
            <a:r>
              <a:rPr sz="1100" b="1" i="0">
                <a:solidFill>
                  <a:srgbClr val="23836A"/>
                </a:solidFill>
                <a:latin typeface="Calibri"/>
              </a:rPr>
              <a:t>TERRITOIRES PRIORITAIRES ET INÉGALITÉS OBSERVÉES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5211E"/>
                </a:solidFill>
                <a:latin typeface="Calibri"/>
              </a:rPr>
              <a:t>Kpendjal, Akébou, Dankpen et Tchamba cumulent les déficits d'accès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62706C"/>
                </a:solidFill>
                <a:latin typeface="Calibri"/>
              </a:rPr>
              <a:t>Rang centile de 4 indicateurs par préfecture (1 = moins bien desservie parmi les 39) ; texte = valeur observée.</a:t>
            </a:r>
          </a:p>
        </p:txBody>
      </p:sp>
      <p:pic>
        <p:nvPicPr>
          <p:cNvPr id="5" name="Picture 4" descr="matrice_prefe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7040880" cy="44667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9659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5211E"/>
                </a:solidFill>
                <a:latin typeface="Calibri"/>
              </a:rPr>
              <a:t>Communes sans établissement les plus peuplées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818120" y="2286000"/>
          <a:ext cx="388620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09560" y="59436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7A8783"/>
                </a:solidFill>
                <a:latin typeface="Calibri"/>
              </a:rPr>
              <a:t>22 communes au total, 759 599 habitants (RGPH-5 2022).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Sources : Géoportail PRISE 2021/22 (agents) · géoportail, extraction 01/2025 (établissements) · RGPH-5 2022. Rang moyen : moyenne simple, sans pondération.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C7851A"/>
                </a:solidFill>
                <a:latin typeface="Calibri"/>
              </a:rPr>
              <a:t>09  ·  </a:t>
            </a:r>
            <a:r>
              <a:rPr sz="1100" b="1" i="0">
                <a:solidFill>
                  <a:srgbClr val="23836A"/>
                </a:solidFill>
                <a:latin typeface="Calibri"/>
              </a:rPr>
              <a:t>RECOMMANDATIONS STRATÉGIQUES CIBLÉES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5211E"/>
                </a:solidFill>
                <a:latin typeface="Calibri"/>
              </a:rPr>
              <a:t>11 communes en priorité 1 : des déficits cumulés, trois leviers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62706C"/>
                </a:solidFill>
                <a:latin typeface="Calibri"/>
              </a:rPr>
              <a:t>Priorité = nombre de critères remplis parmi C1 aucun établissement · C2 peu d'agents · C3 distance &gt; 10 km · C4 agents dispersés.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0642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31720"/>
                <a:gridCol w="2331720"/>
                <a:gridCol w="2971800"/>
                <a:gridCol w="1783080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Territoire</a:t>
                      </a:r>
                    </a:p>
                  </a:txBody>
                  <a:tcPr marL="73152" marR="73152" marT="36576" marB="36576" anchor="ctr">
                    <a:solidFill>
                      <a:srgbClr val="176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Problème observé</a:t>
                      </a:r>
                    </a:p>
                  </a:txBody>
                  <a:tcPr marL="73152" marR="73152" marT="36576" marB="36576" anchor="ctr">
                    <a:solidFill>
                      <a:srgbClr val="176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Indicateurs sources</a:t>
                      </a:r>
                    </a:p>
                  </a:txBody>
                  <a:tcPr marL="73152" marR="73152" marT="36576" marB="36576" anchor="ctr">
                    <a:solidFill>
                      <a:srgbClr val="176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73152" marR="73152" marT="36576" marB="36576" anchor="ctr">
                    <a:solidFill>
                      <a:srgbClr val="176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Impact attendu</a:t>
                      </a:r>
                    </a:p>
                  </a:txBody>
                  <a:tcPr marL="73152" marR="73152" marT="36576" marB="36576" anchor="ctr">
                    <a:solidFill>
                      <a:srgbClr val="176B57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5211E"/>
                          </a:solidFill>
                          <a:latin typeface="Calibri"/>
                        </a:rPr>
                        <a:t>Préfecture de Kpendjal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Aucun établissement recensé · Peu d'agents MM (plus de 2× la référence) · Premier établissement à plus de 10 km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88 365 hab. · 41 agents MM · 0 établ. · distance médiane 29,2 km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Ouvrir ou conventionner un point de dépôt et de crédit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Suivi : établissements recensés, habitants par agent, distance médiane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5211E"/>
                          </a:solidFill>
                          <a:latin typeface="Calibri"/>
                        </a:rPr>
                        <a:t>Dankpen 3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Aucun établissement recensé · Peu d'agents MM (plus de 2× la référence) · Premier établissement à plus de 10 km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76 652 hab. · 37 agents MM · 0 établ. · distance médiane 12,7 km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Ouvrir ou conventionner un point de dépôt et de crédit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Suivi : établissements recensés, habitants par agent, distance médiane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5211E"/>
                          </a:solidFill>
                          <a:latin typeface="Calibri"/>
                        </a:rPr>
                        <a:t>Kéran 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Aucun établissement recensé · Peu d'agents MM (plus de 2× la référence) · Premier établissement à plus de 10 km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53 305 hab. · 38 agents MM · 0 établ. · distance médiane 19,0 km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Ouvrir ou conventionner un point de dépôt et de crédit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Suivi : établissements recensés, habitants par agent, distance médiane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5211E"/>
                          </a:solidFill>
                          <a:latin typeface="Calibri"/>
                        </a:rPr>
                        <a:t>Est-Mono 2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Peu d'agents MM (plus de 2× la référence) · Premier établissement à plus de 10 km · Agents dispersés loin des établissements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101 866 hab. · 99 agents MM · 1 établ. · distance médiane 16,7 km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Densifier le réseau d'agents mobile money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1E"/>
                          </a:solidFill>
                          <a:latin typeface="Calibri"/>
                        </a:rPr>
                        <a:t>Suivi : habitants par agent, distance médiane, part d'agents &gt; 5 km</a:t>
                      </a:r>
                    </a:p>
                  </a:txBody>
                  <a:tcPr marL="73152" marR="73152" marT="36576" marB="36576" anchor="ctr">
                    <a:solidFill>
                      <a:srgbClr val="EFF8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53212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EF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5577840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23836A"/>
                </a:solidFill>
                <a:latin typeface="Calibri"/>
              </a:rPr>
              <a:t>Leviers transverses : </a:t>
            </a:r>
            <a:r>
              <a:rPr sz="1150" b="0" i="0">
                <a:solidFill>
                  <a:srgbClr val="62706C"/>
                </a:solidFill>
                <a:latin typeface="Calibri"/>
              </a:rPr>
              <a:t>(1) adosser les agents MM à une IMF pour le dépôt et l'épargne ; (2) densifier les agents là où l'on dépasse 2× la référence nationale d'habitants par agent ; (3) services financiers numériques là où le premier établissement est à plus de 10 km. Aucun objectif chiffré.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Sources : RGPH-5 2022 · PRISE 2021/22 · géoportail 01/2025. Liste complète (52 communes, 14 préfectures) : tableau de bord, page Recommandations.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C7851A"/>
                </a:solidFill>
                <a:latin typeface="Calibri"/>
              </a:rPr>
              <a:t>10  ·  </a:t>
            </a:r>
            <a:r>
              <a:rPr sz="1100" b="1" i="0">
                <a:solidFill>
                  <a:srgbClr val="23836A"/>
                </a:solidFill>
                <a:latin typeface="Calibri"/>
              </a:rPr>
              <a:t>LIMITES DES DONNÉES ET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5211E"/>
                </a:solidFill>
                <a:latin typeface="Calibri"/>
              </a:rPr>
              <a:t>Le mobile money maille le pays ; l'offre formelle doit s'y adosser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28800"/>
            <a:ext cx="438912" cy="438912"/>
          </a:xfrm>
          <a:prstGeom prst="ellipse">
            <a:avLst/>
          </a:prstGeom>
          <a:solidFill>
            <a:srgbClr val="17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47088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5211E"/>
                </a:solidFill>
                <a:latin typeface="Calibri"/>
              </a:rPr>
              <a:t>L'usage d'Internet progresse vite (4,5 % → 37,6 %), sur un marché mobile en duopole équilibré.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97480"/>
            <a:ext cx="438912" cy="438912"/>
          </a:xfrm>
          <a:prstGeom prst="ellipse">
            <a:avLst/>
          </a:prstGeom>
          <a:solidFill>
            <a:srgbClr val="17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15768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5211E"/>
                </a:solidFill>
                <a:latin typeface="Calibri"/>
              </a:rPr>
              <a:t>Le réseau d'agents MM (19 788) est 30 fois plus dense que celui des établissements ; 22 communes n'ont que lui.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66160"/>
            <a:ext cx="438912" cy="438912"/>
          </a:xfrm>
          <a:prstGeom prst="ellipse">
            <a:avLst/>
          </a:prstGeom>
          <a:solidFill>
            <a:srgbClr val="17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84448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5211E"/>
                </a:solidFill>
                <a:latin typeface="Calibri"/>
              </a:rPr>
              <a:t>Les 11 communes de priorité 1 se situent en Kara (4), Plateaux (3), Savanes (3), Centrale (1).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783080"/>
            <a:ext cx="4937760" cy="4297680"/>
          </a:xfrm>
          <a:prstGeom prst="roundRect">
            <a:avLst>
              <a:gd name="adj" fmla="val 5000"/>
            </a:avLst>
          </a:prstGeom>
          <a:solidFill>
            <a:srgbClr val="FBF4E6"/>
          </a:solidFill>
          <a:ln w="9525">
            <a:solidFill>
              <a:srgbClr val="EE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0" y="19659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8A5A0E"/>
                </a:solidFill>
                <a:latin typeface="Calibri"/>
              </a:rPr>
              <a:t>Limites — données non disponibles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468880"/>
            <a:ext cx="44805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1" i="0">
                <a:solidFill>
                  <a:srgbClr val="C7851A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15211E"/>
                </a:solidFill>
                <a:latin typeface="Calibri"/>
              </a:rPr>
              <a:t>Aucune date de collecte individuelle : pas d'évolution des points de service.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1" i="0">
                <a:solidFill>
                  <a:srgbClr val="C7851A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15211E"/>
                </a:solidFill>
                <a:latin typeface="Calibri"/>
              </a:rPr>
              <a:t>Ni transactions, ni comptes, ni genre des agents : l'usage réel du MM n'est pas mesuré.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1" i="0">
                <a:solidFill>
                  <a:srgbClr val="C7851A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15211E"/>
                </a:solidFill>
                <a:latin typeface="Calibri"/>
              </a:rPr>
              <a:t>Séries télécoms arrêtées en 2019 ; Internet national uniquement (pas de ventilation territoriale).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1" i="0">
                <a:solidFill>
                  <a:srgbClr val="C7851A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15211E"/>
                </a:solidFill>
                <a:latin typeface="Calibri"/>
              </a:rPr>
              <a:t>Absence dans les données ≠ absence réelle ; distances à vol d'oiseau.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1" i="0">
                <a:solidFill>
                  <a:srgbClr val="C7851A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15211E"/>
                </a:solidFill>
                <a:latin typeface="Calibri"/>
              </a:rPr>
              <a:t>Aucune analyse causale possible (pas de variable explicative).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5577840" cy="1005840"/>
          </a:xfrm>
          <a:prstGeom prst="roundRect">
            <a:avLst>
              <a:gd name="adj" fmla="val 6000"/>
            </a:avLst>
          </a:prstGeom>
          <a:solidFill>
            <a:srgbClr val="EFF8F4"/>
          </a:solidFill>
          <a:ln w="9525">
            <a:solidFill>
              <a:srgbClr val="D4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5193792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176B57"/>
                </a:solidFill>
                <a:latin typeface="Calibri"/>
              </a:rPr>
              <a:t>Tableau de bord interactif : </a:t>
            </a:r>
            <a:r>
              <a:rPr sz="1250" b="0" i="0">
                <a:solidFill>
                  <a:srgbClr val="62706C"/>
                </a:solidFill>
                <a:latin typeface="Calibri"/>
              </a:rPr>
              <a:t>7 pages, filtres globaux (période, territoire, opérateur, catégorie, statut), cartes, téléchargements CSV et fiche méthodologique — streamlit run app.py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Sources : ensemble des fichiers de data/ ; méthode et contrôles : methodologie_et_limites.md, data_dictionary.md.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7A878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